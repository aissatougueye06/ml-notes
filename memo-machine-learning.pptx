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1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2A1F"/>
                </a:solidFill>
                <a:latin typeface="Calibri"/>
              </a:rPr>
              <a:t>Itérations nécessaires (mesuré)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Itérations pour converger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F2A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α = 0,01</c:v>
                  </c:pt>
                  <c:pt idx="1">
                    <c:v>α = 0,1</c:v>
                  </c:pt>
                  <c:pt idx="2">
                    <c:v>α = 0,4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14000</c:v>
                </c:pt>
                <c:pt idx="1">
                  <c:v>4000</c:v>
                </c:pt>
                <c:pt idx="2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F2A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D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6E5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Mémo personnel. Une idée par slide, à relire avant chaque nouvelle semaine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754880" cy="475488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881360" y="4572000"/>
            <a:ext cx="2377440" cy="23774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874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Learning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je retiens — de Python à la descente de gradient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Réflexes transférables pour la suite du cours et le métier d'ingénieure IA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axes à garder en tête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 de tout ce qui a été vu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coût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d'opérations ? Un code juste peut être inutilisable à grande échelle.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84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47688" y="1984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23760" y="2002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forme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647688" y="2606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avant tout. La majorité des bugs viennent de dimensions qui ne correspondent pas.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silence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32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erreurs les plus coûteuses ne plantent pas : elles renvoient un chiffre faux.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355080" y="3977640"/>
            <a:ext cx="5166360" cy="1920240"/>
          </a:xfrm>
          <a:prstGeom prst="roundRect">
            <a:avLst>
              <a:gd name="adj" fmla="val 381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4270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7688" y="4270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428853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question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47688" y="489204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choix de la métrique décide de la conclusion. Toujours savoir ce qu'on mesure.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Penser au coût, pas seulement au résultat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complexité dit comment le temps de calcul grandit avec la taille des données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9494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651760"/>
                <a:gridCol w="2743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Comportement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Exemple rencontré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C5F2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Accès à une clé de dictionnaire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Divisé par 2 à chaque étape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Recherche dichotomique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Proportionnel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Parcours d'une liste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Optimal pour un tri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 fusion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Explose vite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A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Deux boucles imbriquées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DF2E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955280" y="1737360"/>
            <a:ext cx="3566160" cy="2286000"/>
          </a:xfrm>
          <a:prstGeom prst="roundRect">
            <a:avLst>
              <a:gd name="adj" fmla="val 32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0" y="19202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million d'éléments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29600" y="22402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O(n²)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0" y="26060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plusieurs heures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0" y="3017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 log n)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3383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fraction de seconde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3434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52628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réflexes qui reviennent partout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960120" y="493776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 dès qu'on sait (early exit) — inutile de continuer quand la réponse est acquise.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Exploiter ce qu'on sait déjà — liste triée, données déjà dédoublonnées, moitiés déjà triées.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Vectoriser plutôt que boucler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prolongement direct du réflexe de coût, dans le monde NumPy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pur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[]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x in liste: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resultat.append(x * 2)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0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tourne dans l'interpréteur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55080" y="1737360"/>
            <a:ext cx="5166360" cy="2148840"/>
          </a:xfrm>
          <a:prstGeom prst="roundRect">
            <a:avLst>
              <a:gd name="adj" fmla="val 340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92024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resultat = tableau *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7512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9D9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descend dans du C compilé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 10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rapide (mesuré, 5 M d'éléments)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61688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36008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÷ 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36008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mémoire : octets bruts, pas des objets Python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83296" y="4251960"/>
            <a:ext cx="3429000" cy="1463040"/>
          </a:xfrm>
          <a:prstGeom prst="roundRect">
            <a:avLst>
              <a:gd name="adj" fmla="val 5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43891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357616" y="4983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visible dans le code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 — les quatre réflexes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socle de tout le calcul en machine learning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56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179222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shape, toujours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508760" y="217627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.shape est l'attribut le plus consulté. La plupart des erreurs viennent de formes qui ne correspondent pas.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182880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M.shape  →  (3, 4)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127248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1272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508760" y="296265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Broadcasting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34670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 aligne les formes en partant de la droite. Compatibles si égales, ou si l'une vaut 1.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89320" y="2999232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(4,)   ✓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(3,)   ✗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(3,4) + (3,1)  ✓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86784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29768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41330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 = l'axe qui disparaît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508760" y="45171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agrégation réduit d'une dimension. keepdims=True conserve l'axe à la taille 1 pour rebroadcaster.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89320" y="4169664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C.mean(axis=0)  →  (4,)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C.mean(axis=1, keepdims=True)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515721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546811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468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508760" y="53035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Masques booléens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08760" y="56875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comparaison renvoie un tableau. On filtre avec &amp;, | et ~ — jamais and/or — et parenthèses obligatoires.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89320" y="5340096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a[(a &gt; 3) &amp; (a &lt; 9)]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Pandas — les gestes qui reviennent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Découvrir un jeu de données, le nettoyer, l'interroger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Découvrir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df.shape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df.head()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df.info()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df.describe()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df.isna().sum()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14400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info() dit ce qu'on a, describe() où sont les valeurs aberrantes.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61688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Sélectionner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36008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df["col"]        → Series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df[["a","b"]]     → DataFrame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df.loc[2, "nom"]  étiquette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df.iloc[0:3]      position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36008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double crochet est une liste : le résultat reste en 2D.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83296" y="1691640"/>
            <a:ext cx="3538728" cy="3200400"/>
          </a:xfrm>
          <a:prstGeom prst="roundRect">
            <a:avLst>
              <a:gd name="adj" fmla="val 2286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Interroger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57616" y="233172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df[df["age"] &gt; 30]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df.groupby("ville")["x"].mean()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df.groupby("x").agg(["mean","count"])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57616" y="393192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Toujours count à côté de mean : une moyenne sans effectif ne veut rien dire.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pièges silencieux des données réelles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ne provoque d'erreur — tous produisent un résultat faux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Espaces invisibles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32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exports à format fixe laissent des espaces de fin. "GO " ≠ "GO", et l'affichage ne montre rien.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32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.str.strip() dès le chargement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55080" y="169164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47688" y="196596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18562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Filtre qui ne renvoie rien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47688" y="240487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tableau vide se propage : .mean() donne nan, .max() lève une erreur trois étapes plus loin.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647688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tester .size &gt; 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32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Moyenne sans effectif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32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moyenne sur 1 élément s'affiche comme les autres. Rien ne signale qu'elle ne veut rien dire.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32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agg(["mean", "count"])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55080" y="37947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47688" y="4069080"/>
            <a:ext cx="128016" cy="128016"/>
          </a:xfrm>
          <a:prstGeom prst="ellipse">
            <a:avLst/>
          </a:prstGeom>
          <a:solidFill>
            <a:srgbClr val="C0562F"/>
          </a:solidFill>
          <a:ln w="12700">
            <a:solidFill>
              <a:srgbClr val="C0562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395935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 ignoré par défaut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47688" y="4507992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mean() saute les valeurs manquantes : le dénominateur change sans avertissement.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47688" y="5212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C5F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isna().sum() avant tout calcul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Valeurs manquantes : pourquoi est-elle absente 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bonne question n'est pas « comment je la comble ? 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structurelle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L'absence porte une information : la mesure n'existe pas pour cette catégorie.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Deux colonnes complémentaires selon la norme appliquée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Une grandeur nulle par nature, laissée vide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dropna() global supprimerait une catégorie entière.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2834640"/>
          </a:xfrm>
          <a:prstGeom prst="roundRect">
            <a:avLst>
              <a:gd name="adj" fmla="val 2581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Absence accidentelle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donnée existe mais n'a pas été renseignée.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Quelques pourcents épars, sans motif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Aucun lien avec une catégorie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Là, dropna() ou fillna() se discutent.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84632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50292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Croiser les valeurs manquantes avec une variable catégorielle révèle le motif — et évite de biaiser toute l'analyse.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triptyque de l'apprentissage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briques distinctes — le même mécanisme entraîne un réseau de neurones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f(x) = wx + b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Prend un x, suppose w et b connus, produit une prédiction.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05072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471416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45736" y="1965960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57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45736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fonction de coût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45736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3A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J(w,b)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745736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à quel point ce couple (w, b) est mauvais. Moyenne des erreurs au carré.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836408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8302752" y="17373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577072" y="1965960"/>
            <a:ext cx="420624" cy="420624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577072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A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577072" y="25603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descente de gradient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577072" y="29718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← w − α ∂J/∂w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577072" y="34747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w et b pas à pas dans le sens de la pente, jusqu'au minimum.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0120" y="521208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pratique : LinearRegression().fit(X, y) condense les trois. Comprendre le mécanisme reste indispensable — il se généralise.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taux d'apprentissage vit dans une fenêtre étroite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petit : on n'arrive jamais. Trop grand : tout diverge en nan.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67512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80960" y="173736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955280" y="19019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E6E5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0,001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955280" y="2286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itérations et toujours pas arrivé. Ça avance, mais dix fois trop lentement.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680960" y="3429000"/>
            <a:ext cx="3840480" cy="1508760"/>
          </a:xfrm>
          <a:prstGeom prst="roundRect">
            <a:avLst>
              <a:gd name="adj" fmla="val 4848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955280" y="359359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α = 0,46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955280" y="39776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coût explose au lieu de baisser : inf, puis nan. Un nan contamine tout ce qui suit.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51206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523036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Tracer le coût en fonction des itérations est le diagnostic de base : il doit décroître à chaque pas.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normalisation ne sert pas qu'au multi-variables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Centrer x découple w et b — la vallée étroite redevient un bol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Sans normalisation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n'est pas centré : augmenter w relève toutes les prédictions, b doit compenser. Les deux paramètres sont couplés — le coût forme une vallée longue et étroite.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166360" cy="1828800"/>
          </a:xfrm>
          <a:prstGeom prst="roundRect">
            <a:avLst>
              <a:gd name="adj" fmla="val 4000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0" y="1920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Avec normalisation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675120" y="23774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 − μ) / σ  →  les directions deviennent indépendantes, la descente va tout droit. Et un α bien plus grand devient utilisable sans diverger.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E6E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 20 000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005840" y="45262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sans normaliser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480560" y="40233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69280" y="39319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200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56692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itérations après normalisation, à α identique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9379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Conserver μ et σ : les paramètres appris portent sur la variable transformée. Il faut les reconvertir pour retrouver des unités interprétables.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Évaluer un modèle : combien, et surtout où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score global ne dit jamais où le modèle échoue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de la variation expliquée. En régression simple, c'est exactement le carré de la corrélation.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MAE / RMSE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636008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L'erreur moyenne, dans l'unité de la cible. Directement interprétable, contrairement au coût J.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737360"/>
            <a:ext cx="3538728" cy="2377440"/>
          </a:xfrm>
          <a:prstGeom prst="roundRect">
            <a:avLst>
              <a:gd name="adj" fmla="val 307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19202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05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résidus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357616" y="2542032"/>
            <a:ext cx="3017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graphique le plus informatif. Des erreurs qui s'évasent ou une traînée asymétrique désignent une variable manquante.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553712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calcul du R² dépend de la population choisie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60120" y="4937760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Mélanger deux sous-populations brouille la relation ; isoler une catégorie peut la révéler beaucoup plus nette. Un même indicateur calculé sur deux périmètres différents n'est pas comparable.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Corrélation, pente, causalité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notions souvent confondues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048256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482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02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corrélation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94960" y="1956816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l'alignement des points. Sans unité, toujours entre −1 et 1, insensible au changement d'échelle.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944368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255264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2552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600200" y="312724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pente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394960" y="3163824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 de combien y varie quand x augmente d'une unité. A une unité, dépend des échelles choisies.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151376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4462272"/>
            <a:ext cx="420624" cy="42062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4622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433425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l'une ni l'autre n'est une cause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394960" y="4370832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forte peut refléter une identité physique, une variable cachée, ou une coïncidence.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54406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5559552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corrélation faible ne signifie pas absence de relation : le coefficient ne mesure que la linéarité. Toujours regarder le nuage de points.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2A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Hygiène de travail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E6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distingue un brouillon d'un livrable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Environnement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 = un projet = un .venv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Ouvrir le projet, pas le dossier parent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python quand un import échoue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requirements.txt : dépendances directes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1688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1A3A1C"/>
          </a:solidFill>
          <a:ln w="12700">
            <a:solidFill>
              <a:srgbClr val="1A3A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36008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81728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Restart and Run All avant chaque commit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variable réutilisée = état fantôme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Numéros d'exécution dans l'ordre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chiffre affiché doit être mesuré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83296" y="1691640"/>
            <a:ext cx="3538728" cy="3017520"/>
          </a:xfrm>
          <a:prstGeom prst="roundRect">
            <a:avLst>
              <a:gd name="adj" fmla="val 2424"/>
            </a:avLst>
          </a:prstGeom>
          <a:solidFill>
            <a:srgbClr val="EDF2E6"/>
          </a:solidFill>
          <a:ln w="12700">
            <a:solidFill>
              <a:srgbClr val="EDF2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57616" y="1874520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&amp; portfolio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403336" y="233172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/ commit / push, à chaque étape finie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.venv ignoré, jamais versionné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 : question, méthode, résultat, limites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F2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Nommer les limites de son analyse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3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023360"/>
            <a:ext cx="4206240" cy="42062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0" y="82296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fil rouge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0" y="1280160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résultat juste ne suffit pas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0" y="2898648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92040" y="2660904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calculable à l'échelle réelle — d'où le coût et la vectorisation.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0" y="3648456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3410712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vérifié, car l'erreur la plus dangereuse ne plante pas.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4398264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92040" y="4160520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situé : sur quelle population, avec quelle métrique, dans quelles limites.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5148072"/>
            <a:ext cx="128016" cy="128016"/>
          </a:xfrm>
          <a:prstGeom prst="ellipse">
            <a:avLst/>
          </a:prstGeom>
          <a:solidFill>
            <a:srgbClr val="97BC62"/>
          </a:solidFill>
          <a:ln w="12700">
            <a:solidFill>
              <a:srgbClr val="97BC6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4910328"/>
            <a:ext cx="6629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E4EE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doit être reproductible par quelqu'un d'autre.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Prochaine étape : régression multiple — plusieurs variables, et la normalisation devient obligatoire.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Mémo Machine Learning</dc:title>
  <dc:subject>PptxGenJS Presentation</dc:subject>
  <dc:creator>Aissatou Gueye</dc:creator>
  <cp:lastModifiedBy>Aissatou Gueye</cp:lastModifiedBy>
  <cp:revision>1</cp:revision>
  <dcterms:created xsi:type="dcterms:W3CDTF">2026-08-22T15:48:51Z</dcterms:created>
  <dcterms:modified xsi:type="dcterms:W3CDTF">2026-08-22T15:48:51Z</dcterms:modified>
</cp:coreProperties>
</file>