
<file path=[Content_Types].xml><?xml version="1.0" encoding="utf-8"?>
<Types xmlns="http://schemas.openxmlformats.org/package/2006/content-types"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charts/chart1.xml" ContentType="application/vnd.openxmlformats-officedocument.drawingml.chart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22.xml" ContentType="application/vnd.openxmlformats-officedocument.presentationml.slide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3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71" r:id="rId15"/>
    <p:sldId id="277" r:id="rId28"/>
    <p:sldId id="272" r:id="rId16"/>
    <p:sldId id="273" r:id="rId17"/>
    <p:sldId id="274" r:id="rId18"/>
    <p:sldId id="275" r:id="rId19"/>
    <p:sldId id="276" r:id="rId20"/>
    <p:sldId id="269" r:id="rId21"/>
    <p:sldId id="270" r:id="rId22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20" d="100"/>
          <a:sy n="120" d="100"/>
        </p:scale>
        <p:origin x="448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ableStyles" Target="tableStyles.xml"/>  <Relationship Id="rId28" Type="http://schemas.openxmlformats.org/officeDocument/2006/relationships/slide" Target="slides/slide22.xml"/>
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F2A1F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1F2A1F"/>
                </a:solidFill>
                <a:latin typeface="Calibri"/>
              </a:rPr>
              <a:t>Itérations nécessaires (mesuré)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Itérations pour converger</c:v>
                </c:pt>
              </c:strCache>
            </c:strRef>
          </c:tx>
          <c:spPr>
            <a:solidFill>
              <a:srgbClr val="2C5F2D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100" b="0" i="0" u="none" strike="noStrike">
                    <a:solidFill>
                      <a:srgbClr val="1F2A1F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Sheet1!$A$2:$A$4</c:f>
              <c:strCache>
                <c:ptCount val="3"/>
                <c:pt idx="0">
                  <c:v>α = 0,01</c:v>
                </c:pt>
                <c:pt idx="1">
                  <c:v>α = 0,1</c:v>
                </c:pt>
                <c:pt idx="2">
                  <c:v>α = 0,4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14000</c:v>
                </c:pt>
                <c:pt idx="1">
                  <c:v>4000</c:v>
                </c:pt>
                <c:pt idx="2">
                  <c:v>2000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85D-024E-9746-57559D68699D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E6E5E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E2E8DC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E6E5E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41182678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Mémo personnel. Une idée par slide, à relire avant chaque nouvelle semaine du cours.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3A1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509760" y="-1371600"/>
            <a:ext cx="4754880" cy="4754880"/>
          </a:xfrm>
          <a:prstGeom prst="ellipse">
            <a:avLst/>
          </a:prstGeom>
          <a:solidFill>
            <a:srgbClr val="2C5F2D"/>
          </a:solidFill>
          <a:ln w="12700">
            <a:solidFill>
              <a:srgbClr val="2C5F2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10881360" y="4572000"/>
            <a:ext cx="2377440" cy="2377440"/>
          </a:xfrm>
          <a:prstGeom prst="ellipse">
            <a:avLst/>
          </a:prstGeom>
          <a:solidFill>
            <a:srgbClr val="97BC62"/>
          </a:solidFill>
          <a:ln w="12700">
            <a:solidFill>
              <a:srgbClr val="97BC6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822960" y="187452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kern="0" spc="400" dirty="0">
                <a:solidFill>
                  <a:srgbClr val="97BC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MÉMO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822960" y="2240280"/>
            <a:ext cx="8412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Machine Learning</a:t>
            </a:r>
            <a:endParaRPr lang="en-US" sz="4800" dirty="0"/>
          </a:p>
        </p:txBody>
      </p:sp>
      <p:sp>
        <p:nvSpPr>
          <p:cNvPr id="6" name="Text 4"/>
          <p:cNvSpPr/>
          <p:nvPr/>
        </p:nvSpPr>
        <p:spPr>
          <a:xfrm>
            <a:off x="822960" y="3200400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97BC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 que je retiens — de Python à la descente de gradient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822960" y="388620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C9D9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Réflexes transférables pour la suite du cours et le métier d'ingénieure IA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881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1F2A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Quatre axes à garder en tête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640080" y="1078992"/>
            <a:ext cx="10881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5E6E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fil rouge de tout ce qui a été vu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40080" y="1691640"/>
            <a:ext cx="5166360" cy="1920240"/>
          </a:xfrm>
          <a:prstGeom prst="roundRect">
            <a:avLst>
              <a:gd name="adj" fmla="val 3810"/>
            </a:avLst>
          </a:prstGeom>
          <a:solidFill>
            <a:srgbClr val="EDF2E6"/>
          </a:solidFill>
          <a:ln w="12700">
            <a:solidFill>
              <a:srgbClr val="EDF2E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932688" y="1984248"/>
            <a:ext cx="420624" cy="420624"/>
          </a:xfrm>
          <a:prstGeom prst="ellipse">
            <a:avLst/>
          </a:prstGeom>
          <a:solidFill>
            <a:srgbClr val="2C5F2D"/>
          </a:solidFill>
          <a:ln w="12700">
            <a:solidFill>
              <a:srgbClr val="2C5F2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932688" y="198424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508760" y="2002536"/>
            <a:ext cx="4023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 coût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932688" y="2606040"/>
            <a:ext cx="4572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1F2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Combien d'opérations ? Un code juste peut être inutilisable à grande échelle.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355080" y="1691640"/>
            <a:ext cx="5166360" cy="1920240"/>
          </a:xfrm>
          <a:prstGeom prst="roundRect">
            <a:avLst>
              <a:gd name="adj" fmla="val 3810"/>
            </a:avLst>
          </a:prstGeom>
          <a:solidFill>
            <a:srgbClr val="EDF2E6"/>
          </a:solidFill>
          <a:ln w="12700">
            <a:solidFill>
              <a:srgbClr val="EDF2E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6647688" y="1984248"/>
            <a:ext cx="420624" cy="420624"/>
          </a:xfrm>
          <a:prstGeom prst="ellipse">
            <a:avLst/>
          </a:prstGeom>
          <a:solidFill>
            <a:srgbClr val="2C5F2D"/>
          </a:solidFill>
          <a:ln w="12700">
            <a:solidFill>
              <a:srgbClr val="2C5F2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6647688" y="198424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7223760" y="2002536"/>
            <a:ext cx="4023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 forme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6647688" y="2606040"/>
            <a:ext cx="4572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1F2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shape avant tout. La majorité des bugs viennent de dimensions qui ne correspondent pas.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640080" y="3977640"/>
            <a:ext cx="5166360" cy="1920240"/>
          </a:xfrm>
          <a:prstGeom prst="roundRect">
            <a:avLst>
              <a:gd name="adj" fmla="val 3810"/>
            </a:avLst>
          </a:prstGeom>
          <a:solidFill>
            <a:srgbClr val="EDF2E6"/>
          </a:solidFill>
          <a:ln w="12700">
            <a:solidFill>
              <a:srgbClr val="EDF2E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Shape 13"/>
          <p:cNvSpPr/>
          <p:nvPr/>
        </p:nvSpPr>
        <p:spPr>
          <a:xfrm>
            <a:off x="932688" y="4270248"/>
            <a:ext cx="420624" cy="420624"/>
          </a:xfrm>
          <a:prstGeom prst="ellipse">
            <a:avLst/>
          </a:prstGeom>
          <a:solidFill>
            <a:srgbClr val="2C5F2D"/>
          </a:solidFill>
          <a:ln w="12700">
            <a:solidFill>
              <a:srgbClr val="2C5F2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932688" y="427024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1508760" y="4288536"/>
            <a:ext cx="4023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 silence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932688" y="4892040"/>
            <a:ext cx="4572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1F2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erreurs les plus coûteuses ne plantent pas : elles renvoient un chiffre faux.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6355080" y="3977640"/>
            <a:ext cx="5166360" cy="1920240"/>
          </a:xfrm>
          <a:prstGeom prst="roundRect">
            <a:avLst>
              <a:gd name="adj" fmla="val 3810"/>
            </a:avLst>
          </a:prstGeom>
          <a:solidFill>
            <a:srgbClr val="EDF2E6"/>
          </a:solidFill>
          <a:ln w="12700">
            <a:solidFill>
              <a:srgbClr val="EDF2E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Shape 18"/>
          <p:cNvSpPr/>
          <p:nvPr/>
        </p:nvSpPr>
        <p:spPr>
          <a:xfrm>
            <a:off x="6647688" y="4270248"/>
            <a:ext cx="420624" cy="420624"/>
          </a:xfrm>
          <a:prstGeom prst="ellipse">
            <a:avLst/>
          </a:prstGeom>
          <a:solidFill>
            <a:srgbClr val="2C5F2D"/>
          </a:solidFill>
          <a:ln w="12700">
            <a:solidFill>
              <a:srgbClr val="2C5F2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6647688" y="427024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7223760" y="4288536"/>
            <a:ext cx="4023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 question</a:t>
            </a:r>
            <a:endParaRPr lang="en-US" sz="1700" dirty="0"/>
          </a:p>
        </p:txBody>
      </p:sp>
      <p:sp>
        <p:nvSpPr>
          <p:cNvPr id="23" name="Text 21"/>
          <p:cNvSpPr/>
          <p:nvPr/>
        </p:nvSpPr>
        <p:spPr>
          <a:xfrm>
            <a:off x="6647688" y="4892040"/>
            <a:ext cx="4572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1F2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choix de la métrique décide de la conclusion. Toujours savoir ce qu'on mesure.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881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1F2A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Penser au coût, pas seulement au résultat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640080" y="1078992"/>
            <a:ext cx="10881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5E6E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complexité dit comment le temps de calcul grandit avec la taille des données</a:t>
            </a:r>
            <a:endParaRPr lang="en-US" sz="14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737360"/>
          <a:ext cx="6949440" cy="914400"/>
        </p:xfrm>
        <a:graphic>
          <a:graphicData uri="http://schemas.openxmlformats.org/drawingml/2006/table">
            <a:tbl>
              <a:tblPr/>
              <a:tblGrid>
                <a:gridCol w="15544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6517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7432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0233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Complexité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Comportement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Exemple rencontré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2C5F2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1F2A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O(1)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DF2E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1F2A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Constant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DF2E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1F2A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Accès à une clé de dictionnaire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DF2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1F2A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O(log n)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1F2A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Divisé par 2 à chaque étape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1F2A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Recherche dichotomique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1F2A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O(n)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DF2E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1F2A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Proportionnel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DF2E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1F2A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Parcours d'une liste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DF2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1F2A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O(n log n)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1F2A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Optimal pour un tri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1F2A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Tri fusion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1F2A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O(n²)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DF2E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1F2A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Explose vite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DF2E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1F2A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Deux boucles imbriquées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DF2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7955280" y="1737360"/>
            <a:ext cx="3566160" cy="2286000"/>
          </a:xfrm>
          <a:prstGeom prst="roundRect">
            <a:avLst>
              <a:gd name="adj" fmla="val 3200"/>
            </a:avLst>
          </a:prstGeom>
          <a:solidFill>
            <a:srgbClr val="1A3A1C"/>
          </a:solidFill>
          <a:ln w="12700">
            <a:solidFill>
              <a:srgbClr val="1A3A1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3"/>
          <p:cNvSpPr/>
          <p:nvPr/>
        </p:nvSpPr>
        <p:spPr>
          <a:xfrm>
            <a:off x="8229600" y="1920240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97BC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million d'éléments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8229600" y="224028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O(n²)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8229600" y="2606040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C9D9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plusieurs heures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8229600" y="301752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97BC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O(n log n)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8229600" y="3383280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C9D9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une fraction de seconde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640080" y="4343400"/>
            <a:ext cx="10881360" cy="1371600"/>
          </a:xfrm>
          <a:prstGeom prst="roundRect">
            <a:avLst>
              <a:gd name="adj" fmla="val 5333"/>
            </a:avLst>
          </a:prstGeom>
          <a:solidFill>
            <a:srgbClr val="EDF2E6"/>
          </a:solidFill>
          <a:ln w="12700">
            <a:solidFill>
              <a:srgbClr val="EDF2E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9"/>
          <p:cNvSpPr/>
          <p:nvPr/>
        </p:nvSpPr>
        <p:spPr>
          <a:xfrm>
            <a:off x="960120" y="4526280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Les deux réflexes qui reviennent partout</a:t>
            </a:r>
            <a:endParaRPr lang="en-US" sz="1700" dirty="0"/>
          </a:p>
        </p:txBody>
      </p:sp>
      <p:sp>
        <p:nvSpPr>
          <p:cNvPr id="13" name="Text 10"/>
          <p:cNvSpPr/>
          <p:nvPr/>
        </p:nvSpPr>
        <p:spPr>
          <a:xfrm>
            <a:off x="960120" y="4937760"/>
            <a:ext cx="10241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1F2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Sortir dès qu'on sait (early exit) — inutile de continuer quand la réponse est acquise.</a:t>
            </a:r>
            <a:endParaRPr lang="en-US" sz="13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1F2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Exploiter ce qu'on sait déjà — liste triée, données déjà dédoublonnées, moitiés déjà triées.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881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1F2A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Vectoriser plutôt que boucler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640080" y="1078992"/>
            <a:ext cx="10881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5E6E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prolongement direct du réflexe de coût, dans le monde NumPy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40080" y="1737360"/>
            <a:ext cx="5166360" cy="2148840"/>
          </a:xfrm>
          <a:prstGeom prst="roundRect">
            <a:avLst>
              <a:gd name="adj" fmla="val 3404"/>
            </a:avLst>
          </a:prstGeom>
          <a:solidFill>
            <a:srgbClr val="EDF2E6"/>
          </a:solidFill>
          <a:ln w="12700">
            <a:solidFill>
              <a:srgbClr val="EDF2E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960120" y="1920240"/>
            <a:ext cx="4114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5E6E5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Python pur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960120" y="2377440"/>
            <a:ext cx="4572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1A3A1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resultat = []</a:t>
            </a:r>
            <a:endParaRPr lang="en-US" sz="12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1A3A1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 x in liste:</a:t>
            </a:r>
            <a:endParaRPr lang="en-US" sz="12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1A3A1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resultat.append(x * 2)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960120" y="340156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i="1" dirty="0">
                <a:solidFill>
                  <a:srgbClr val="5E6E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boucle tourne dans l'interpréteur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6355080" y="1737360"/>
            <a:ext cx="5166360" cy="2148840"/>
          </a:xfrm>
          <a:prstGeom prst="roundRect">
            <a:avLst>
              <a:gd name="adj" fmla="val 3404"/>
            </a:avLst>
          </a:prstGeom>
          <a:solidFill>
            <a:srgbClr val="1A3A1C"/>
          </a:solidFill>
          <a:ln w="12700">
            <a:solidFill>
              <a:srgbClr val="1A3A1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6675120" y="1920240"/>
            <a:ext cx="4114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97BC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NumPy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resultat = tableau * 2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6675120" y="340156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i="1" dirty="0">
                <a:solidFill>
                  <a:srgbClr val="C9D9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calcul descend dans du C compilé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640080" y="4251960"/>
            <a:ext cx="3429000" cy="1463040"/>
          </a:xfrm>
          <a:prstGeom prst="roundRect">
            <a:avLst>
              <a:gd name="adj" fmla="val 5000"/>
            </a:avLst>
          </a:prstGeom>
          <a:solidFill>
            <a:srgbClr val="EDF2E6"/>
          </a:solidFill>
          <a:ln w="12700">
            <a:solidFill>
              <a:srgbClr val="EDF2E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914400" y="4389120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× 10</a:t>
            </a:r>
            <a:endParaRPr lang="en-US" sz="3400" dirty="0"/>
          </a:p>
        </p:txBody>
      </p:sp>
      <p:sp>
        <p:nvSpPr>
          <p:cNvPr id="14" name="Text 12"/>
          <p:cNvSpPr/>
          <p:nvPr/>
        </p:nvSpPr>
        <p:spPr>
          <a:xfrm>
            <a:off x="914400" y="4983480"/>
            <a:ext cx="2926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F2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plus rapide (mesuré, 5 M d'éléments)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4361688" y="4251960"/>
            <a:ext cx="3429000" cy="1463040"/>
          </a:xfrm>
          <a:prstGeom prst="roundRect">
            <a:avLst>
              <a:gd name="adj" fmla="val 5000"/>
            </a:avLst>
          </a:prstGeom>
          <a:solidFill>
            <a:srgbClr val="EDF2E6"/>
          </a:solidFill>
          <a:ln w="12700">
            <a:solidFill>
              <a:srgbClr val="EDF2E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4636008" y="4389120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÷ 10</a:t>
            </a:r>
            <a:endParaRPr lang="en-US" sz="3400" dirty="0"/>
          </a:p>
        </p:txBody>
      </p:sp>
      <p:sp>
        <p:nvSpPr>
          <p:cNvPr id="17" name="Text 15"/>
          <p:cNvSpPr/>
          <p:nvPr/>
        </p:nvSpPr>
        <p:spPr>
          <a:xfrm>
            <a:off x="4636008" y="4983480"/>
            <a:ext cx="2926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F2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mémoire : octets bruts, pas des objets Python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8083296" y="4251960"/>
            <a:ext cx="3429000" cy="1463040"/>
          </a:xfrm>
          <a:prstGeom prst="roundRect">
            <a:avLst>
              <a:gd name="adj" fmla="val 5000"/>
            </a:avLst>
          </a:prstGeom>
          <a:solidFill>
            <a:srgbClr val="EDF2E6"/>
          </a:solidFill>
          <a:ln w="12700">
            <a:solidFill>
              <a:srgbClr val="EDF2E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8357616" y="4389120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</a:t>
            </a:r>
            <a:endParaRPr lang="en-US" sz="3400" dirty="0"/>
          </a:p>
        </p:txBody>
      </p:sp>
      <p:sp>
        <p:nvSpPr>
          <p:cNvPr id="20" name="Text 18"/>
          <p:cNvSpPr/>
          <p:nvPr/>
        </p:nvSpPr>
        <p:spPr>
          <a:xfrm>
            <a:off x="8357616" y="4983480"/>
            <a:ext cx="2926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F2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boucle visible dans le code</a:t>
            </a:r>
            <a:endParaRPr lang="en-US" sz="11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881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1F2A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NumPy — les quatre réflexes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640080" y="1078992"/>
            <a:ext cx="10881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5E6E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socle de tout le calcul en machine learning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40080" y="1645920"/>
            <a:ext cx="10881360" cy="1051560"/>
          </a:xfrm>
          <a:prstGeom prst="roundRect">
            <a:avLst>
              <a:gd name="adj" fmla="val 6957"/>
            </a:avLst>
          </a:prstGeom>
          <a:solidFill>
            <a:srgbClr val="EDF2E6"/>
          </a:solidFill>
          <a:ln w="12700">
            <a:solidFill>
              <a:srgbClr val="EDF2E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914400" y="1956816"/>
            <a:ext cx="420624" cy="420624"/>
          </a:xfrm>
          <a:prstGeom prst="ellipse">
            <a:avLst/>
          </a:prstGeom>
          <a:solidFill>
            <a:srgbClr val="2C5F2D"/>
          </a:solidFill>
          <a:ln w="12700">
            <a:solidFill>
              <a:srgbClr val="2C5F2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914400" y="195681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508760" y="1792224"/>
            <a:ext cx="3931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shape, toujours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1508760" y="2176272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1F2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.shape est l'attribut le plus consulté. La plupart des erreurs viennent de formes qui ne correspondent pas.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5989320" y="1828800"/>
            <a:ext cx="5303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1A3A1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M.shape  →  (3, 4)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640080" y="2816352"/>
            <a:ext cx="10881360" cy="1051560"/>
          </a:xfrm>
          <a:prstGeom prst="roundRect">
            <a:avLst>
              <a:gd name="adj" fmla="val 6957"/>
            </a:avLst>
          </a:prstGeom>
          <a:solidFill>
            <a:srgbClr val="EDF2E6"/>
          </a:solidFill>
          <a:ln w="12700">
            <a:solidFill>
              <a:srgbClr val="EDF2E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914400" y="3127248"/>
            <a:ext cx="420624" cy="420624"/>
          </a:xfrm>
          <a:prstGeom prst="ellipse">
            <a:avLst/>
          </a:prstGeom>
          <a:solidFill>
            <a:srgbClr val="2C5F2D"/>
          </a:solidFill>
          <a:ln w="12700">
            <a:solidFill>
              <a:srgbClr val="2C5F2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914400" y="312724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1508760" y="2962656"/>
            <a:ext cx="3931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Broadcasting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1508760" y="3346704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1F2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NumPy aligne les formes en partant de la droite. Compatibles si égales, ou si l'une vaut 1. Un (3,) n'a pas d'orientation.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5989320" y="2999232"/>
            <a:ext cx="5303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1A3A1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(3,4) + (4,)   ✓</a:t>
            </a:r>
            <a:endParaRPr lang="en-US" sz="115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1A3A1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(3,4) + (3,)   ✗   → v[:, None]</a:t>
            </a:r>
            <a:endParaRPr lang="en-US" sz="115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1A3A1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(3,4) + (3,1)  ✓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640080" y="3986784"/>
            <a:ext cx="10881360" cy="1051560"/>
          </a:xfrm>
          <a:prstGeom prst="roundRect">
            <a:avLst>
              <a:gd name="adj" fmla="val 6957"/>
            </a:avLst>
          </a:prstGeom>
          <a:solidFill>
            <a:srgbClr val="EDF2E6"/>
          </a:solidFill>
          <a:ln w="12700">
            <a:solidFill>
              <a:srgbClr val="EDF2E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Shape 15"/>
          <p:cNvSpPr/>
          <p:nvPr/>
        </p:nvSpPr>
        <p:spPr>
          <a:xfrm>
            <a:off x="914400" y="4297680"/>
            <a:ext cx="420624" cy="420624"/>
          </a:xfrm>
          <a:prstGeom prst="ellipse">
            <a:avLst/>
          </a:prstGeom>
          <a:solidFill>
            <a:srgbClr val="2C5F2D"/>
          </a:solidFill>
          <a:ln w="12700">
            <a:solidFill>
              <a:srgbClr val="2C5F2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914400" y="429768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1508760" y="4133088"/>
            <a:ext cx="3931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axis = l'axe qui disparaît</a:t>
            </a:r>
            <a:endParaRPr lang="en-US" sz="1700" dirty="0"/>
          </a:p>
        </p:txBody>
      </p:sp>
      <p:sp>
        <p:nvSpPr>
          <p:cNvPr id="20" name="Text 18"/>
          <p:cNvSpPr/>
          <p:nvPr/>
        </p:nvSpPr>
        <p:spPr>
          <a:xfrm>
            <a:off x="1508760" y="4517136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1F2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Une agrégation réduit d'une dimension. keepdims=True conserve l'axe à la taille 1 pour rebroadcaster.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5989320" y="4169664"/>
            <a:ext cx="5303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1A3A1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C.mean(axis=0)  →  (4,)</a:t>
            </a:r>
            <a:endParaRPr lang="en-US" sz="115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1A3A1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C.mean(axis=1, keepdims=True)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640080" y="5157216"/>
            <a:ext cx="10881360" cy="1051560"/>
          </a:xfrm>
          <a:prstGeom prst="roundRect">
            <a:avLst>
              <a:gd name="adj" fmla="val 6957"/>
            </a:avLst>
          </a:prstGeom>
          <a:solidFill>
            <a:srgbClr val="EDF2E6"/>
          </a:solidFill>
          <a:ln w="12700">
            <a:solidFill>
              <a:srgbClr val="EDF2E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Shape 21"/>
          <p:cNvSpPr/>
          <p:nvPr/>
        </p:nvSpPr>
        <p:spPr>
          <a:xfrm>
            <a:off x="914400" y="5468112"/>
            <a:ext cx="420624" cy="420624"/>
          </a:xfrm>
          <a:prstGeom prst="ellipse">
            <a:avLst/>
          </a:prstGeom>
          <a:solidFill>
            <a:srgbClr val="2C5F2D"/>
          </a:solidFill>
          <a:ln w="12700">
            <a:solidFill>
              <a:srgbClr val="2C5F2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Text 22"/>
          <p:cNvSpPr/>
          <p:nvPr/>
        </p:nvSpPr>
        <p:spPr>
          <a:xfrm>
            <a:off x="914400" y="546811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1508760" y="5303520"/>
            <a:ext cx="3931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Masques booléens</a:t>
            </a:r>
            <a:endParaRPr lang="en-US" sz="1700" dirty="0"/>
          </a:p>
        </p:txBody>
      </p:sp>
      <p:sp>
        <p:nvSpPr>
          <p:cNvPr id="26" name="Text 24"/>
          <p:cNvSpPr/>
          <p:nvPr/>
        </p:nvSpPr>
        <p:spPr>
          <a:xfrm>
            <a:off x="1508760" y="5687568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1F2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Une comparaison renvoie un tableau. On filtre avec &amp;, | et ~ — jamais and/or — et parenthèses obligatoires.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5989320" y="5340096"/>
            <a:ext cx="5303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1A3A1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a[(a &gt; 3) &amp; (a &lt; 9)]</a:t>
            </a:r>
            <a:endParaRPr lang="en-US" sz="11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881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1F2A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Pandas — les gestes qui reviennent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640080" y="1078992"/>
            <a:ext cx="10881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5E6E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Découvrir un jeu de données, le nettoyer, l'interroger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40080" y="1691640"/>
            <a:ext cx="3538728" cy="3200400"/>
          </a:xfrm>
          <a:prstGeom prst="roundRect">
            <a:avLst>
              <a:gd name="adj" fmla="val 2286"/>
            </a:avLst>
          </a:prstGeom>
          <a:solidFill>
            <a:srgbClr val="EDF2E6"/>
          </a:solidFill>
          <a:ln w="12700">
            <a:solidFill>
              <a:srgbClr val="EDF2E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914400" y="1874520"/>
            <a:ext cx="3017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Découvrir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914400" y="2331720"/>
            <a:ext cx="31089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1A3A1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df.shape</a:t>
            </a:r>
            <a:endParaRPr lang="en-US" sz="105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1A3A1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df.head()</a:t>
            </a:r>
            <a:endParaRPr lang="en-US" sz="105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1A3A1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df.info()</a:t>
            </a:r>
            <a:endParaRPr lang="en-US" sz="105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1A3A1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df.describe()</a:t>
            </a:r>
            <a:endParaRPr lang="en-US" sz="105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1A3A1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df.isna().sum()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914400" y="3931920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150" i="1" dirty="0">
                <a:solidFill>
                  <a:srgbClr val="5E6E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info() dit ce qu'on a, describe() où sont les valeurs aberrantes.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4361688" y="1691640"/>
            <a:ext cx="3538728" cy="3200400"/>
          </a:xfrm>
          <a:prstGeom prst="roundRect">
            <a:avLst>
              <a:gd name="adj" fmla="val 2286"/>
            </a:avLst>
          </a:prstGeom>
          <a:solidFill>
            <a:srgbClr val="EDF2E6"/>
          </a:solidFill>
          <a:ln w="12700">
            <a:solidFill>
              <a:srgbClr val="EDF2E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4636008" y="1874520"/>
            <a:ext cx="3017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Sélectionner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4636008" y="2331720"/>
            <a:ext cx="31089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1A3A1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df["col"]        → Series</a:t>
            </a:r>
            <a:endParaRPr lang="en-US" sz="105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1A3A1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df[["a","b"]]     → DataFrame</a:t>
            </a:r>
            <a:endParaRPr lang="en-US" sz="105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1A3A1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df.loc[2, "nom"]  étiquette</a:t>
            </a:r>
            <a:endParaRPr lang="en-US" sz="105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1A3A1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df.iloc[0:3]      position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4636008" y="3931920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150" i="1" dirty="0">
                <a:solidFill>
                  <a:srgbClr val="5E6E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double crochet est une liste : le résultat reste en 2D.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8083296" y="1691640"/>
            <a:ext cx="3538728" cy="3200400"/>
          </a:xfrm>
          <a:prstGeom prst="roundRect">
            <a:avLst>
              <a:gd name="adj" fmla="val 2286"/>
            </a:avLst>
          </a:prstGeom>
          <a:solidFill>
            <a:srgbClr val="EDF2E6"/>
          </a:solidFill>
          <a:ln w="12700">
            <a:solidFill>
              <a:srgbClr val="EDF2E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8357616" y="1874520"/>
            <a:ext cx="3017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Interroger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8357616" y="2331720"/>
            <a:ext cx="31089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1A3A1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df[df["age"] &gt; 30]</a:t>
            </a:r>
            <a:endParaRPr lang="en-US" sz="105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1A3A1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df.groupby("ville")["x"].mean()</a:t>
            </a:r>
            <a:endParaRPr lang="en-US" sz="105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1A3A1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df.groupby("x").agg(["mean","count"])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8357616" y="3931920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150" i="1" dirty="0">
                <a:solidFill>
                  <a:srgbClr val="5E6E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Toujours count à côté de mean : une moyenne sans effectif ne veut rien dire.</a:t>
            </a:r>
            <a:endParaRPr lang="en-US" sz="11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881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1F2A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Les pièges silencieux des données réelles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640080" y="1078992"/>
            <a:ext cx="10881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5E6E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Aucun ne provoque d'erreur — tous produisent un résultat faux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40080" y="1691640"/>
            <a:ext cx="5166360" cy="1828800"/>
          </a:xfrm>
          <a:prstGeom prst="roundRect">
            <a:avLst>
              <a:gd name="adj" fmla="val 4000"/>
            </a:avLst>
          </a:prstGeom>
          <a:solidFill>
            <a:srgbClr val="EDF2E6"/>
          </a:solidFill>
          <a:ln w="12700">
            <a:solidFill>
              <a:srgbClr val="EDF2E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932688" y="1965960"/>
            <a:ext cx="128016" cy="128016"/>
          </a:xfrm>
          <a:prstGeom prst="ellipse">
            <a:avLst/>
          </a:prstGeom>
          <a:solidFill>
            <a:srgbClr val="C0562F"/>
          </a:solidFill>
          <a:ln w="12700">
            <a:solidFill>
              <a:srgbClr val="C0562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1188720" y="1856232"/>
            <a:ext cx="4389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C056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Espaces invisibles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932688" y="2404872"/>
            <a:ext cx="4572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1F2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exports à format fixe laissent des espaces de fin. "GO " ≠ "GO", et l'affichage ne montre rien.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932688" y="310896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C5F2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.str.strip() dès le chargement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6355080" y="1691640"/>
            <a:ext cx="5166360" cy="1828800"/>
          </a:xfrm>
          <a:prstGeom prst="roundRect">
            <a:avLst>
              <a:gd name="adj" fmla="val 4000"/>
            </a:avLst>
          </a:prstGeom>
          <a:solidFill>
            <a:srgbClr val="EDF2E6"/>
          </a:solidFill>
          <a:ln w="12700">
            <a:solidFill>
              <a:srgbClr val="EDF2E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6647688" y="1965960"/>
            <a:ext cx="128016" cy="128016"/>
          </a:xfrm>
          <a:prstGeom prst="ellipse">
            <a:avLst/>
          </a:prstGeom>
          <a:solidFill>
            <a:srgbClr val="C0562F"/>
          </a:solidFill>
          <a:ln w="12700">
            <a:solidFill>
              <a:srgbClr val="C0562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6903720" y="1856232"/>
            <a:ext cx="4389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C056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Filtre qui ne renvoie rien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6647688" y="2404872"/>
            <a:ext cx="4572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1F2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tableau vide se propage : .mean() donne nan, .max() lève une erreur trois étapes plus loin.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6647688" y="310896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C5F2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tester .size &gt; 0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40080" y="3794760"/>
            <a:ext cx="5166360" cy="1828800"/>
          </a:xfrm>
          <a:prstGeom prst="roundRect">
            <a:avLst>
              <a:gd name="adj" fmla="val 4000"/>
            </a:avLst>
          </a:prstGeom>
          <a:solidFill>
            <a:srgbClr val="EDF2E6"/>
          </a:solidFill>
          <a:ln w="12700">
            <a:solidFill>
              <a:srgbClr val="EDF2E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Shape 13"/>
          <p:cNvSpPr/>
          <p:nvPr/>
        </p:nvSpPr>
        <p:spPr>
          <a:xfrm>
            <a:off x="932688" y="4069080"/>
            <a:ext cx="128016" cy="128016"/>
          </a:xfrm>
          <a:prstGeom prst="ellipse">
            <a:avLst/>
          </a:prstGeom>
          <a:solidFill>
            <a:srgbClr val="C0562F"/>
          </a:solidFill>
          <a:ln w="12700">
            <a:solidFill>
              <a:srgbClr val="C0562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1188720" y="3959352"/>
            <a:ext cx="4389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C056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Moyenne sans effectif</a:t>
            </a:r>
            <a:endParaRPr lang="en-US" sz="1700" dirty="0"/>
          </a:p>
        </p:txBody>
      </p:sp>
      <p:sp>
        <p:nvSpPr>
          <p:cNvPr id="17" name="Text 15"/>
          <p:cNvSpPr/>
          <p:nvPr/>
        </p:nvSpPr>
        <p:spPr>
          <a:xfrm>
            <a:off x="932688" y="4507992"/>
            <a:ext cx="4572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1F2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Une moyenne sur 1 élément s'affiche comme les autres. Rien ne signale qu'elle ne veut rien dire.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932688" y="521208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C5F2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agg(["mean", "count"])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6355080" y="3794760"/>
            <a:ext cx="5166360" cy="1828800"/>
          </a:xfrm>
          <a:prstGeom prst="roundRect">
            <a:avLst>
              <a:gd name="adj" fmla="val 4000"/>
            </a:avLst>
          </a:prstGeom>
          <a:solidFill>
            <a:srgbClr val="EDF2E6"/>
          </a:solidFill>
          <a:ln w="12700">
            <a:solidFill>
              <a:srgbClr val="EDF2E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Shape 18"/>
          <p:cNvSpPr/>
          <p:nvPr/>
        </p:nvSpPr>
        <p:spPr>
          <a:xfrm>
            <a:off x="6647688" y="4069080"/>
            <a:ext cx="128016" cy="128016"/>
          </a:xfrm>
          <a:prstGeom prst="ellipse">
            <a:avLst/>
          </a:prstGeom>
          <a:solidFill>
            <a:srgbClr val="C0562F"/>
          </a:solidFill>
          <a:ln w="12700">
            <a:solidFill>
              <a:srgbClr val="C0562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6903720" y="3959352"/>
            <a:ext cx="4389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C056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nan ignoré par défaut</a:t>
            </a:r>
            <a:endParaRPr lang="en-US" sz="1700" dirty="0"/>
          </a:p>
        </p:txBody>
      </p:sp>
      <p:sp>
        <p:nvSpPr>
          <p:cNvPr id="22" name="Text 20"/>
          <p:cNvSpPr/>
          <p:nvPr/>
        </p:nvSpPr>
        <p:spPr>
          <a:xfrm>
            <a:off x="6647688" y="4507992"/>
            <a:ext cx="4572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1F2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mean() saute les valeurs manquantes : le dénominateur change sans avertissement.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6647688" y="521208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C5F2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isna().sum() avant tout calcul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881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1F2A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Valeurs manquantes : pourquoi est-elle absente ?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640080" y="1078992"/>
            <a:ext cx="10881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5E6E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bonne question n'est pas « comment je la comble ? »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40080" y="1737360"/>
            <a:ext cx="5166360" cy="2834640"/>
          </a:xfrm>
          <a:prstGeom prst="roundRect">
            <a:avLst>
              <a:gd name="adj" fmla="val 2581"/>
            </a:avLst>
          </a:prstGeom>
          <a:solidFill>
            <a:srgbClr val="EDF2E6"/>
          </a:solidFill>
          <a:ln w="12700">
            <a:solidFill>
              <a:srgbClr val="EDF2E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960120" y="1920240"/>
            <a:ext cx="4389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Absence structurelle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960120" y="2377440"/>
            <a:ext cx="45720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F2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L'absence porte une information : la mesure n'existe pas pour cette catégorie.</a:t>
            </a:r>
            <a:endParaRPr lang="en-US" sz="1200" dirty="0"/>
          </a:p>
          <a:p>
            <a:pPr marL="0" indent="0">
              <a:lnSpc>
                <a:spcPct val="115000"/>
              </a:lnSpc>
              <a:buNone/>
            </a:pPr>
            <a:endParaRPr lang="en-US" sz="12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F2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Deux colonnes complémentaires selon la norme appliquée</a:t>
            </a:r>
            <a:endParaRPr lang="en-US" sz="12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F2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Une grandeur nulle par nature, laissée vide</a:t>
            </a:r>
            <a:endParaRPr lang="en-US" sz="1200" dirty="0"/>
          </a:p>
          <a:p>
            <a:pPr marL="0" indent="0">
              <a:lnSpc>
                <a:spcPct val="115000"/>
              </a:lnSpc>
              <a:buNone/>
            </a:pPr>
            <a:endParaRPr lang="en-US" sz="12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F2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dropna() global supprimerait une catégorie entière.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6355080" y="1737360"/>
            <a:ext cx="5166360" cy="2834640"/>
          </a:xfrm>
          <a:prstGeom prst="roundRect">
            <a:avLst>
              <a:gd name="adj" fmla="val 2581"/>
            </a:avLst>
          </a:prstGeom>
          <a:solidFill>
            <a:srgbClr val="EDF2E6"/>
          </a:solidFill>
          <a:ln w="12700">
            <a:solidFill>
              <a:srgbClr val="EDF2E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6675120" y="1920240"/>
            <a:ext cx="4389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5E6E5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Absence accidentelle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6675120" y="2377440"/>
            <a:ext cx="45720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F2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donnée existe mais n'a pas été renseignée.</a:t>
            </a:r>
            <a:endParaRPr lang="en-US" sz="1200" dirty="0"/>
          </a:p>
          <a:p>
            <a:pPr marL="0" indent="0">
              <a:lnSpc>
                <a:spcPct val="115000"/>
              </a:lnSpc>
              <a:buNone/>
            </a:pPr>
            <a:endParaRPr lang="en-US" sz="12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F2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Quelques pourcents épars, sans motif</a:t>
            </a:r>
            <a:endParaRPr lang="en-US" sz="12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F2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Aucun lien avec une catégorie</a:t>
            </a:r>
            <a:endParaRPr lang="en-US" sz="1200" dirty="0"/>
          </a:p>
          <a:p>
            <a:pPr marL="0" indent="0">
              <a:lnSpc>
                <a:spcPct val="115000"/>
              </a:lnSpc>
              <a:buNone/>
            </a:pPr>
            <a:endParaRPr lang="en-US" sz="12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F2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Là, dropna() ou fillna() se discutent.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40080" y="4846320"/>
            <a:ext cx="10881360" cy="914400"/>
          </a:xfrm>
          <a:prstGeom prst="roundRect">
            <a:avLst>
              <a:gd name="adj" fmla="val 8000"/>
            </a:avLst>
          </a:prstGeom>
          <a:solidFill>
            <a:srgbClr val="1A3A1C"/>
          </a:solidFill>
          <a:ln w="12700">
            <a:solidFill>
              <a:srgbClr val="1A3A1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960120" y="5029200"/>
            <a:ext cx="10241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Croiser les valeurs manquantes avec une variable catégorielle révèle le motif — et évite de biaiser toute l'analyse.</a:t>
            </a:r>
            <a:endParaRPr lang="en-US" sz="13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881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1F2A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 triptyque de l'apprentissage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640080" y="1078992"/>
            <a:ext cx="10881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5E6E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Trois briques distinctes — le même mécanisme entraîne un réseau de neurones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40080" y="1737360"/>
            <a:ext cx="3291840" cy="3017520"/>
          </a:xfrm>
          <a:prstGeom prst="roundRect">
            <a:avLst>
              <a:gd name="adj" fmla="val 2424"/>
            </a:avLst>
          </a:prstGeom>
          <a:solidFill>
            <a:srgbClr val="EDF2E6"/>
          </a:solidFill>
          <a:ln w="12700">
            <a:solidFill>
              <a:srgbClr val="EDF2E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914400" y="1965960"/>
            <a:ext cx="420624" cy="420624"/>
          </a:xfrm>
          <a:prstGeom prst="ellipse">
            <a:avLst/>
          </a:prstGeom>
          <a:solidFill>
            <a:srgbClr val="2C5F2D"/>
          </a:solidFill>
          <a:ln w="12700">
            <a:solidFill>
              <a:srgbClr val="2C5F2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914400" y="196596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914400" y="2560320"/>
            <a:ext cx="2834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 modèle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914400" y="2971800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A3A1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f(x) = wx + b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914400" y="3474720"/>
            <a:ext cx="28346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F2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Prend un x, suppose w et b connus, produit une prédiction.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005072" y="29260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97BC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400" dirty="0"/>
          </a:p>
        </p:txBody>
      </p:sp>
      <p:sp>
        <p:nvSpPr>
          <p:cNvPr id="11" name="Shape 9"/>
          <p:cNvSpPr/>
          <p:nvPr/>
        </p:nvSpPr>
        <p:spPr>
          <a:xfrm>
            <a:off x="4471416" y="1737360"/>
            <a:ext cx="3291840" cy="3017520"/>
          </a:xfrm>
          <a:prstGeom prst="roundRect">
            <a:avLst>
              <a:gd name="adj" fmla="val 2424"/>
            </a:avLst>
          </a:prstGeom>
          <a:solidFill>
            <a:srgbClr val="EDF2E6"/>
          </a:solidFill>
          <a:ln w="12700">
            <a:solidFill>
              <a:srgbClr val="EDF2E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Shape 10"/>
          <p:cNvSpPr/>
          <p:nvPr/>
        </p:nvSpPr>
        <p:spPr>
          <a:xfrm>
            <a:off x="4745736" y="1965960"/>
            <a:ext cx="420624" cy="420624"/>
          </a:xfrm>
          <a:prstGeom prst="ellipse">
            <a:avLst/>
          </a:prstGeom>
          <a:solidFill>
            <a:srgbClr val="2C5F2D"/>
          </a:solidFill>
          <a:ln w="12700">
            <a:solidFill>
              <a:srgbClr val="2C5F2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4745736" y="196596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4745736" y="2560320"/>
            <a:ext cx="2834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 fonction de coût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4745736" y="2971800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A3A1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J(w,b)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4745736" y="3474720"/>
            <a:ext cx="28346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F2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Mesure à quel point ce couple (w, b) est mauvais. Moyenne des erreurs au carré.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7836408" y="29260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97BC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400" dirty="0"/>
          </a:p>
        </p:txBody>
      </p:sp>
      <p:sp>
        <p:nvSpPr>
          <p:cNvPr id="18" name="Shape 16"/>
          <p:cNvSpPr/>
          <p:nvPr/>
        </p:nvSpPr>
        <p:spPr>
          <a:xfrm>
            <a:off x="8302752" y="1737360"/>
            <a:ext cx="3291840" cy="3017520"/>
          </a:xfrm>
          <a:prstGeom prst="roundRect">
            <a:avLst>
              <a:gd name="adj" fmla="val 2424"/>
            </a:avLst>
          </a:prstGeom>
          <a:solidFill>
            <a:srgbClr val="1A3A1C"/>
          </a:solidFill>
          <a:ln w="12700">
            <a:solidFill>
              <a:srgbClr val="1A3A1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Shape 17"/>
          <p:cNvSpPr/>
          <p:nvPr/>
        </p:nvSpPr>
        <p:spPr>
          <a:xfrm>
            <a:off x="8577072" y="1965960"/>
            <a:ext cx="420624" cy="420624"/>
          </a:xfrm>
          <a:prstGeom prst="ellipse">
            <a:avLst/>
          </a:prstGeom>
          <a:solidFill>
            <a:srgbClr val="97BC62"/>
          </a:solidFill>
          <a:ln w="12700">
            <a:solidFill>
              <a:srgbClr val="97BC6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8577072" y="196596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A3A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8577072" y="2560320"/>
            <a:ext cx="2834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97BC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 descente de gradient</a:t>
            </a:r>
            <a:endParaRPr lang="en-US" sz="1700" dirty="0"/>
          </a:p>
        </p:txBody>
      </p:sp>
      <p:sp>
        <p:nvSpPr>
          <p:cNvPr id="22" name="Text 20"/>
          <p:cNvSpPr/>
          <p:nvPr/>
        </p:nvSpPr>
        <p:spPr>
          <a:xfrm>
            <a:off x="8577072" y="2971800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 ← w − α ∂J/∂w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8577072" y="3474720"/>
            <a:ext cx="28346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Ajuste w et b pas à pas dans le sens de la pente, jusqu'au minimum.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640080" y="5074920"/>
            <a:ext cx="10881360" cy="777240"/>
          </a:xfrm>
          <a:prstGeom prst="roundRect">
            <a:avLst>
              <a:gd name="adj" fmla="val 9412"/>
            </a:avLst>
          </a:prstGeom>
          <a:solidFill>
            <a:srgbClr val="EDF2E6"/>
          </a:solidFill>
          <a:ln w="12700">
            <a:solidFill>
              <a:srgbClr val="EDF2E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Text 23"/>
          <p:cNvSpPr/>
          <p:nvPr/>
        </p:nvSpPr>
        <p:spPr>
          <a:xfrm>
            <a:off x="960120" y="5212080"/>
            <a:ext cx="10241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F2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pratique : LinearRegression().fit(X, y) condense les trois. Comprendre le mécanisme reste indispensable — il se généralise.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881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1F2A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 taux d'apprentissage vit dans une fenêtre étroite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640080" y="1078992"/>
            <a:ext cx="10881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5E6E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Trop petit : on n'arrive jamais. Trop grand : tout diverge en nan.</a:t>
            </a:r>
            <a:endParaRPr lang="en-US" sz="1400" dirty="0"/>
          </a:p>
        </p:txBody>
      </p:sp>
      <p:graphicFrame>
        <p:nvGraphicFramePr>
          <p:cNvPr id="4" name="Chart 0"/>
          <p:cNvGraphicFramePr/>
          <p:nvPr/>
        </p:nvGraphicFramePr>
        <p:xfrm>
          <a:off x="640080" y="1737360"/>
          <a:ext cx="6675120" cy="32004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5" name="Shape 2"/>
          <p:cNvSpPr/>
          <p:nvPr/>
        </p:nvSpPr>
        <p:spPr>
          <a:xfrm>
            <a:off x="7680960" y="1737360"/>
            <a:ext cx="3840480" cy="1508760"/>
          </a:xfrm>
          <a:prstGeom prst="roundRect">
            <a:avLst>
              <a:gd name="adj" fmla="val 4848"/>
            </a:avLst>
          </a:prstGeom>
          <a:solidFill>
            <a:srgbClr val="EDF2E6"/>
          </a:solidFill>
          <a:ln w="12700">
            <a:solidFill>
              <a:srgbClr val="EDF2E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3"/>
          <p:cNvSpPr/>
          <p:nvPr/>
        </p:nvSpPr>
        <p:spPr>
          <a:xfrm>
            <a:off x="7955280" y="1901952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5E6E5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α = 0,001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7955280" y="2286000"/>
            <a:ext cx="3291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F2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20 000 itérations et toujours pas arrivé. Ça avance, mais dix fois trop lentement.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7680960" y="3429000"/>
            <a:ext cx="3840480" cy="1508760"/>
          </a:xfrm>
          <a:prstGeom prst="roundRect">
            <a:avLst>
              <a:gd name="adj" fmla="val 4848"/>
            </a:avLst>
          </a:prstGeom>
          <a:solidFill>
            <a:srgbClr val="1A3A1C"/>
          </a:solidFill>
          <a:ln w="12700">
            <a:solidFill>
              <a:srgbClr val="1A3A1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6"/>
          <p:cNvSpPr/>
          <p:nvPr/>
        </p:nvSpPr>
        <p:spPr>
          <a:xfrm>
            <a:off x="7955280" y="3593592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97BC6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α = 0,46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7955280" y="3977640"/>
            <a:ext cx="3291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coût explose au lieu de baisser : inf, puis nan. Un nan contamine tout ce qui suit.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640080" y="5120640"/>
            <a:ext cx="10881360" cy="731520"/>
          </a:xfrm>
          <a:prstGeom prst="roundRect">
            <a:avLst>
              <a:gd name="adj" fmla="val 10000"/>
            </a:avLst>
          </a:prstGeom>
          <a:solidFill>
            <a:srgbClr val="EDF2E6"/>
          </a:solidFill>
          <a:ln w="12700">
            <a:solidFill>
              <a:srgbClr val="EDF2E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9"/>
          <p:cNvSpPr/>
          <p:nvPr/>
        </p:nvSpPr>
        <p:spPr>
          <a:xfrm>
            <a:off x="960120" y="5230368"/>
            <a:ext cx="10241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F2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Tracer le coût en fonction des itérations est le diagnostic de base : il doit décroître à chaque pas.</a:t>
            </a:r>
            <a:endParaRPr lang="en-US" sz="13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881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1F2A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 normalisation ne sert pas qu'au multi-variables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640080" y="1078992"/>
            <a:ext cx="10881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5E6E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Centrer x découple w et b — la vallée étroite redevient un bol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40080" y="1737360"/>
            <a:ext cx="5166360" cy="1828800"/>
          </a:xfrm>
          <a:prstGeom prst="roundRect">
            <a:avLst>
              <a:gd name="adj" fmla="val 4000"/>
            </a:avLst>
          </a:prstGeom>
          <a:solidFill>
            <a:srgbClr val="EDF2E6"/>
          </a:solidFill>
          <a:ln w="12700">
            <a:solidFill>
              <a:srgbClr val="EDF2E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960120" y="1920240"/>
            <a:ext cx="4389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5E6E5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Sans normalisation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960120" y="2377440"/>
            <a:ext cx="45720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F2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 n'est pas centré : augmenter w relève toutes les prédictions, b doit compenser. Les deux paramètres sont couplés — le coût forme une vallée longue et étroite.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6355080" y="1737360"/>
            <a:ext cx="5166360" cy="1828800"/>
          </a:xfrm>
          <a:prstGeom prst="roundRect">
            <a:avLst>
              <a:gd name="adj" fmla="val 4000"/>
            </a:avLst>
          </a:prstGeom>
          <a:solidFill>
            <a:srgbClr val="1A3A1C"/>
          </a:solidFill>
          <a:ln w="12700">
            <a:solidFill>
              <a:srgbClr val="1A3A1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6675120" y="1920240"/>
            <a:ext cx="4389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97BC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Avec normalisation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6675120" y="2377440"/>
            <a:ext cx="45720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(x − μ) / σ  →  les directions deviennent indépendantes, la descente va tout droit. Et un α bien plus grand devient utilisable sans diverger.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40080" y="3794760"/>
            <a:ext cx="10881360" cy="1051560"/>
          </a:xfrm>
          <a:prstGeom prst="roundRect">
            <a:avLst>
              <a:gd name="adj" fmla="val 6957"/>
            </a:avLst>
          </a:prstGeom>
          <a:solidFill>
            <a:srgbClr val="EDF2E6"/>
          </a:solidFill>
          <a:ln w="12700">
            <a:solidFill>
              <a:srgbClr val="EDF2E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1005840" y="3931920"/>
            <a:ext cx="2743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5E6E5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&gt; 20 000</a:t>
            </a:r>
            <a:endParaRPr lang="en-US" sz="3200" dirty="0"/>
          </a:p>
        </p:txBody>
      </p:sp>
      <p:sp>
        <p:nvSpPr>
          <p:cNvPr id="12" name="Text 10"/>
          <p:cNvSpPr/>
          <p:nvPr/>
        </p:nvSpPr>
        <p:spPr>
          <a:xfrm>
            <a:off x="1005840" y="452628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5E6E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itérations sans normaliser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4480560" y="4023360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97BC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600" dirty="0"/>
          </a:p>
        </p:txBody>
      </p:sp>
      <p:sp>
        <p:nvSpPr>
          <p:cNvPr id="14" name="Text 12"/>
          <p:cNvSpPr/>
          <p:nvPr/>
        </p:nvSpPr>
        <p:spPr>
          <a:xfrm>
            <a:off x="5669280" y="3931920"/>
            <a:ext cx="2743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&lt; 200</a:t>
            </a:r>
            <a:endParaRPr lang="en-US" sz="3200" dirty="0"/>
          </a:p>
        </p:txBody>
      </p:sp>
      <p:sp>
        <p:nvSpPr>
          <p:cNvPr id="15" name="Text 13"/>
          <p:cNvSpPr/>
          <p:nvPr/>
        </p:nvSpPr>
        <p:spPr>
          <a:xfrm>
            <a:off x="5669280" y="4526280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F2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itérations après normalisation, à α identique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640080" y="5074920"/>
            <a:ext cx="10881360" cy="777240"/>
          </a:xfrm>
          <a:prstGeom prst="roundRect">
            <a:avLst>
              <a:gd name="adj" fmla="val 9412"/>
            </a:avLst>
          </a:prstGeom>
          <a:solidFill>
            <a:srgbClr val="EDF2E6"/>
          </a:solidFill>
          <a:ln w="12700">
            <a:solidFill>
              <a:srgbClr val="EDF2E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960120" y="5193792"/>
            <a:ext cx="10241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F2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Conserver μ et σ : les paramètres appris portent sur la variable transformée. Il faut les reconvertir pour retrouver des unités interprétables.</a:t>
            </a:r>
            <a:endParaRPr lang="en-US" sz="13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881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1F2A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Évaluer un modèle : combien, et surtout où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640080" y="1078992"/>
            <a:ext cx="10881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5E6E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score global ne dit jamais où le modèle échoue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40080" y="1737360"/>
            <a:ext cx="3538728" cy="2377440"/>
          </a:xfrm>
          <a:prstGeom prst="roundRect">
            <a:avLst>
              <a:gd name="adj" fmla="val 3077"/>
            </a:avLst>
          </a:prstGeom>
          <a:solidFill>
            <a:srgbClr val="EDF2E6"/>
          </a:solidFill>
          <a:ln w="12700">
            <a:solidFill>
              <a:srgbClr val="EDF2E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914400" y="1920240"/>
            <a:ext cx="3017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R²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914400" y="2542032"/>
            <a:ext cx="30175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F2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de la variation expliquée. En régression simple, c'est exactement le carré de la corrélation.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361688" y="1737360"/>
            <a:ext cx="3538728" cy="2377440"/>
          </a:xfrm>
          <a:prstGeom prst="roundRect">
            <a:avLst>
              <a:gd name="adj" fmla="val 3077"/>
            </a:avLst>
          </a:prstGeom>
          <a:solidFill>
            <a:srgbClr val="EDF2E6"/>
          </a:solidFill>
          <a:ln w="12700">
            <a:solidFill>
              <a:srgbClr val="EDF2E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4636008" y="1920240"/>
            <a:ext cx="3017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MAE / RMSE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4636008" y="2542032"/>
            <a:ext cx="30175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F2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L'erreur moyenne, dans l'unité de la cible. Directement interprétable, contrairement au coût J.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8083296" y="1737360"/>
            <a:ext cx="3538728" cy="2377440"/>
          </a:xfrm>
          <a:prstGeom prst="roundRect">
            <a:avLst>
              <a:gd name="adj" fmla="val 3077"/>
            </a:avLst>
          </a:prstGeom>
          <a:solidFill>
            <a:srgbClr val="EDF2E6"/>
          </a:solidFill>
          <a:ln w="12700">
            <a:solidFill>
              <a:srgbClr val="EDF2E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8357616" y="1920240"/>
            <a:ext cx="3017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C056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Les résidus</a:t>
            </a:r>
            <a:endParaRPr lang="en-US" sz="2400" dirty="0"/>
          </a:p>
        </p:txBody>
      </p:sp>
      <p:sp>
        <p:nvSpPr>
          <p:cNvPr id="12" name="Text 10"/>
          <p:cNvSpPr/>
          <p:nvPr/>
        </p:nvSpPr>
        <p:spPr>
          <a:xfrm>
            <a:off x="8357616" y="2542032"/>
            <a:ext cx="30175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F2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graphique le plus informatif. Des erreurs qui s'évasent ou une traînée asymétrique désignent une variable manquante.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40080" y="4389120"/>
            <a:ext cx="10881360" cy="1371600"/>
          </a:xfrm>
          <a:prstGeom prst="roundRect">
            <a:avLst>
              <a:gd name="adj" fmla="val 5333"/>
            </a:avLst>
          </a:prstGeom>
          <a:solidFill>
            <a:srgbClr val="1A3A1C"/>
          </a:solidFill>
          <a:ln w="12700">
            <a:solidFill>
              <a:srgbClr val="1A3A1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960120" y="4553712"/>
            <a:ext cx="10241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97BC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 calcul du R² dépend de la population choisie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960120" y="4937760"/>
            <a:ext cx="10241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Mélanger deux sous-populations brouille la relation ; isoler une catégorie peut la révéler beaucoup plus nette. Un même indicateur calculé sur deux périmètres différents n'est pas comparable.</a:t>
            </a:r>
            <a:endParaRPr lang="en-US" sz="12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881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1F2A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Corrélation, pente, causalité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640080" y="1078992"/>
            <a:ext cx="10881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5E6E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Trois notions souvent confondues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40080" y="1737360"/>
            <a:ext cx="10881360" cy="1051560"/>
          </a:xfrm>
          <a:prstGeom prst="roundRect">
            <a:avLst>
              <a:gd name="adj" fmla="val 6957"/>
            </a:avLst>
          </a:prstGeom>
          <a:solidFill>
            <a:srgbClr val="EDF2E6"/>
          </a:solidFill>
          <a:ln w="12700">
            <a:solidFill>
              <a:srgbClr val="EDF2E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960120" y="2048256"/>
            <a:ext cx="420624" cy="420624"/>
          </a:xfrm>
          <a:prstGeom prst="ellipse">
            <a:avLst/>
          </a:prstGeom>
          <a:solidFill>
            <a:srgbClr val="2C5F2D"/>
          </a:solidFill>
          <a:ln w="12700">
            <a:solidFill>
              <a:srgbClr val="2C5F2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960120" y="20482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600200" y="1920240"/>
            <a:ext cx="3566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 corrélation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5394960" y="1956816"/>
            <a:ext cx="5852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1F2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Mesure l'alignement des points. Sans unité, toujours entre −1 et 1, insensible au changement d'échelle.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40080" y="2944368"/>
            <a:ext cx="10881360" cy="1051560"/>
          </a:xfrm>
          <a:prstGeom prst="roundRect">
            <a:avLst>
              <a:gd name="adj" fmla="val 6957"/>
            </a:avLst>
          </a:prstGeom>
          <a:solidFill>
            <a:srgbClr val="EDF2E6"/>
          </a:solidFill>
          <a:ln w="12700">
            <a:solidFill>
              <a:srgbClr val="EDF2E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960120" y="3255264"/>
            <a:ext cx="420624" cy="420624"/>
          </a:xfrm>
          <a:prstGeom prst="ellipse">
            <a:avLst/>
          </a:prstGeom>
          <a:solidFill>
            <a:srgbClr val="2C5F2D"/>
          </a:solidFill>
          <a:ln w="12700">
            <a:solidFill>
              <a:srgbClr val="2C5F2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960120" y="3255264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1600200" y="3127248"/>
            <a:ext cx="3566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 pente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5394960" y="3163824"/>
            <a:ext cx="5852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1F2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Mesure de combien y varie quand x augmente d'une unité. A une unité, dépend des échelles choisies.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640080" y="4151376"/>
            <a:ext cx="10881360" cy="1051560"/>
          </a:xfrm>
          <a:prstGeom prst="roundRect">
            <a:avLst>
              <a:gd name="adj" fmla="val 6957"/>
            </a:avLst>
          </a:prstGeom>
          <a:solidFill>
            <a:srgbClr val="EDF2E6"/>
          </a:solidFill>
          <a:ln w="12700">
            <a:solidFill>
              <a:srgbClr val="EDF2E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Shape 13"/>
          <p:cNvSpPr/>
          <p:nvPr/>
        </p:nvSpPr>
        <p:spPr>
          <a:xfrm>
            <a:off x="960120" y="4462272"/>
            <a:ext cx="420624" cy="420624"/>
          </a:xfrm>
          <a:prstGeom prst="ellipse">
            <a:avLst/>
          </a:prstGeom>
          <a:solidFill>
            <a:srgbClr val="2C5F2D"/>
          </a:solidFill>
          <a:ln w="12700">
            <a:solidFill>
              <a:srgbClr val="2C5F2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960120" y="446227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1600200" y="4334256"/>
            <a:ext cx="3566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Ni l'une ni l'autre n'est une cause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5394960" y="4370832"/>
            <a:ext cx="5852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1F2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Une corrélation forte peut refléter une identité physique, une variable cachée, ou une coïncidence.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640080" y="5440680"/>
            <a:ext cx="10881360" cy="777240"/>
          </a:xfrm>
          <a:prstGeom prst="roundRect">
            <a:avLst>
              <a:gd name="adj" fmla="val 9412"/>
            </a:avLst>
          </a:prstGeom>
          <a:solidFill>
            <a:srgbClr val="EDF2E6"/>
          </a:solidFill>
          <a:ln w="12700">
            <a:solidFill>
              <a:srgbClr val="EDF2E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960120" y="5559552"/>
            <a:ext cx="10241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F2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Une corrélation faible ne signifie pas absence de relation : le coefficient ne mesure que la linéarité. Toujours regarder le nuage de points.</a:t>
            </a:r>
            <a:endParaRPr lang="en-US" sz="13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881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1F2A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Une variable trop bonne pour être vraie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640080" y="1078992"/>
            <a:ext cx="10881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5E6E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R² de 0,999 n'est pas une bonne nouvelle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40080" y="1737360"/>
            <a:ext cx="5166360" cy="2834640"/>
          </a:xfrm>
          <a:prstGeom prst="roundRect">
            <a:avLst>
              <a:gd name="adj" fmla="val 2581"/>
            </a:avLst>
          </a:prstGeom>
          <a:solidFill>
            <a:srgbClr val="EDF2E6"/>
          </a:solidFill>
          <a:ln w="12700">
            <a:solidFill>
              <a:srgbClr val="EDF2E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960120" y="1920240"/>
            <a:ext cx="4389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Fuite directe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960120" y="2377440"/>
            <a:ext cx="45720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F2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CO₂ homologué est calculé à partir de la consommation : leur rapport est une constante.</a:t>
            </a:r>
            <a:endParaRPr lang="en-US" sz="1200" dirty="0"/>
          </a:p>
          <a:p>
            <a:pPr marL="0" indent="0">
              <a:lnSpc>
                <a:spcPct val="115000"/>
              </a:lnSpc>
              <a:buNone/>
            </a:pPr>
            <a:endParaRPr lang="en-US" sz="12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F2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R² = 0,999 et MAE = 0,9 g/km</a:t>
            </a:r>
            <a:endParaRPr lang="en-US" sz="12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F2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Coefficient appris : 2,64 kg de CO₂ par litre</a:t>
            </a:r>
            <a:endParaRPr lang="en-US" sz="1200" dirty="0"/>
          </a:p>
          <a:p>
            <a:pPr marL="0" indent="0">
              <a:lnSpc>
                <a:spcPct val="115000"/>
              </a:lnSpc>
              <a:buNone/>
            </a:pPr>
            <a:endParaRPr lang="en-US" sz="12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F2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facteur d'émission du gazole — une constante physique, pas un paramètre.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6355080" y="1737360"/>
            <a:ext cx="5166360" cy="2834640"/>
          </a:xfrm>
          <a:prstGeom prst="roundRect">
            <a:avLst>
              <a:gd name="adj" fmla="val 2581"/>
            </a:avLst>
          </a:prstGeom>
          <a:solidFill>
            <a:srgbClr val="EDF2E6"/>
          </a:solidFill>
          <a:ln w="12700">
            <a:solidFill>
              <a:srgbClr val="EDF2E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6675120" y="1920240"/>
            <a:ext cx="4389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5E6E5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Fuite par formule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6675120" y="2377440"/>
            <a:ext cx="45720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F2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puissance administrative se calcule depuis 1998 par une formule qui contient le CO₂.</a:t>
            </a:r>
            <a:endParaRPr lang="en-US" sz="1200" dirty="0"/>
          </a:p>
          <a:p>
            <a:pPr marL="0" indent="0">
              <a:lnSpc>
                <a:spcPct val="115000"/>
              </a:lnSpc>
              <a:buNone/>
            </a:pPr>
            <a:endParaRPr lang="en-US" sz="12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F2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Corrélation avec la cible : 0,708 seulement</a:t>
            </a:r>
            <a:endParaRPr lang="en-US" sz="12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F2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La formule reproduit 99,5 % des lignes</a:t>
            </a:r>
            <a:endParaRPr lang="en-US" sz="1200" dirty="0"/>
          </a:p>
          <a:p>
            <a:pPr marL="0" indent="0">
              <a:lnSpc>
                <a:spcPct val="115000"/>
              </a:lnSpc>
              <a:buNone/>
            </a:pPr>
            <a:endParaRPr lang="en-US" sz="12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F2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Une fuite non linéaire est invisible dans une matrice de corrélation.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40080" y="4846320"/>
            <a:ext cx="10881360" cy="914400"/>
          </a:xfrm>
          <a:prstGeom prst="roundRect">
            <a:avLst>
              <a:gd name="adj" fmla="val 8000"/>
            </a:avLst>
          </a:prstGeom>
          <a:solidFill>
            <a:srgbClr val="1A3A1C"/>
          </a:solidFill>
          <a:ln w="12700">
            <a:solidFill>
              <a:srgbClr val="1A3A1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960120" y="5029200"/>
            <a:ext cx="10241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test : cette variable serait-elle connue avant la cible, en situation réelle ? Sinon, elle sort du modèle.</a:t>
            </a:r>
            <a:endParaRPr lang="en-US" sz="13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881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1F2A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Une ligne n'est pas une observation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640080" y="1078992"/>
            <a:ext cx="10881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5E6E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Vérifier l'unité du fichier avant tout calcul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40080" y="1737360"/>
            <a:ext cx="5166360" cy="1828800"/>
          </a:xfrm>
          <a:prstGeom prst="roundRect">
            <a:avLst>
              <a:gd name="adj" fmla="val 4000"/>
            </a:avLst>
          </a:prstGeom>
          <a:solidFill>
            <a:srgbClr val="EDF2E6"/>
          </a:solidFill>
          <a:ln w="12700">
            <a:solidFill>
              <a:srgbClr val="EDF2E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960120" y="1920240"/>
            <a:ext cx="4389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5E6E5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Ce que contient le fichier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960120" y="2377440"/>
            <a:ext cx="45720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F2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Chaque véhicule est déclaré une fois par variante d'homologation : mêmes masse, puissance et CO₂, numéros de dossier différents. Rien ne signale la répétition.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6355080" y="1737360"/>
            <a:ext cx="5166360" cy="1828800"/>
          </a:xfrm>
          <a:prstGeom prst="roundRect">
            <a:avLst>
              <a:gd name="adj" fmla="val 4000"/>
            </a:avLst>
          </a:prstGeom>
          <a:solidFill>
            <a:srgbClr val="1A3A1C"/>
          </a:solidFill>
          <a:ln w="12700">
            <a:solidFill>
              <a:srgbClr val="1A3A1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6675120" y="1920240"/>
            <a:ext cx="4389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97BC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Ce que ça fait au modèle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6675120" y="2377440"/>
            <a:ext cx="45720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modèle déclaré en 18 versions pèse 18 fois plus lourd dans la somme des carrés. L'ajustement suit le catalogue commercial, pas la physique.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40080" y="3794760"/>
            <a:ext cx="10881360" cy="1051560"/>
          </a:xfrm>
          <a:prstGeom prst="roundRect">
            <a:avLst>
              <a:gd name="adj" fmla="val 6957"/>
            </a:avLst>
          </a:prstGeom>
          <a:solidFill>
            <a:srgbClr val="EDF2E6"/>
          </a:solidFill>
          <a:ln w="12700">
            <a:solidFill>
              <a:srgbClr val="EDF2E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1005840" y="3931920"/>
            <a:ext cx="2743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5E6E5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6 934</a:t>
            </a:r>
            <a:endParaRPr lang="en-US" sz="3200" dirty="0"/>
          </a:p>
        </p:txBody>
      </p:sp>
      <p:sp>
        <p:nvSpPr>
          <p:cNvPr id="12" name="Text 10"/>
          <p:cNvSpPr/>
          <p:nvPr/>
        </p:nvSpPr>
        <p:spPr>
          <a:xfrm>
            <a:off x="1005840" y="452628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5E6E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lignes essence dans le fichier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4480560" y="4023360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97BC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600" dirty="0"/>
          </a:p>
        </p:txBody>
      </p:sp>
      <p:sp>
        <p:nvSpPr>
          <p:cNvPr id="14" name="Text 12"/>
          <p:cNvSpPr/>
          <p:nvPr/>
        </p:nvSpPr>
        <p:spPr>
          <a:xfrm>
            <a:off x="5669280" y="3931920"/>
            <a:ext cx="2743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2 406</a:t>
            </a:r>
            <a:endParaRPr lang="en-US" sz="3200" dirty="0"/>
          </a:p>
        </p:txBody>
      </p:sp>
      <p:sp>
        <p:nvSpPr>
          <p:cNvPr id="15" name="Text 13"/>
          <p:cNvSpPr/>
          <p:nvPr/>
        </p:nvSpPr>
        <p:spPr>
          <a:xfrm>
            <a:off x="5669280" y="4526280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F2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véhicules après dédoublonnage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640080" y="5074920"/>
            <a:ext cx="10881360" cy="777240"/>
          </a:xfrm>
          <a:prstGeom prst="roundRect">
            <a:avLst>
              <a:gd name="adj" fmla="val 9412"/>
            </a:avLst>
          </a:prstGeom>
          <a:solidFill>
            <a:srgbClr val="EDF2E6"/>
          </a:solidFill>
          <a:ln w="12700">
            <a:solidFill>
              <a:srgbClr val="EDF2E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960120" y="5193792"/>
            <a:ext cx="10241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F2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Dédoublonner sur des clés métier explicites — et dire lesquelles. Ici : marque, modèle, masse, puissance, CO₂.</a:t>
            </a:r>
            <a:endParaRPr lang="en-US" sz="13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881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1F2A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Quand deux variables se recouvrent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640080" y="1078992"/>
            <a:ext cx="10881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5E6E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colinéarité ne fausse pas les prédictions — elle interdit de lire les coefficients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40080" y="1737360"/>
            <a:ext cx="3538728" cy="2377440"/>
          </a:xfrm>
          <a:prstGeom prst="roundRect">
            <a:avLst>
              <a:gd name="adj" fmla="val 3077"/>
            </a:avLst>
          </a:prstGeom>
          <a:solidFill>
            <a:srgbClr val="EDF2E6"/>
          </a:solidFill>
          <a:ln w="12700">
            <a:solidFill>
              <a:srgbClr val="EDF2E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914400" y="1920240"/>
            <a:ext cx="3017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 symptôme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914400" y="2542032"/>
            <a:ext cx="30175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F2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coefficient au signe physiquement absurde : à masse égale, plus le véhicule serait puissant, moins il émettrait.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361688" y="1737360"/>
            <a:ext cx="3538728" cy="2377440"/>
          </a:xfrm>
          <a:prstGeom prst="roundRect">
            <a:avLst>
              <a:gd name="adj" fmla="val 3077"/>
            </a:avLst>
          </a:prstGeom>
          <a:solidFill>
            <a:srgbClr val="EDF2E6"/>
          </a:solidFill>
          <a:ln w="12700">
            <a:solidFill>
              <a:srgbClr val="EDF2E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4636008" y="1920240"/>
            <a:ext cx="3017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 diagnostic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4636008" y="2542032"/>
            <a:ext cx="30175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F2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Dans l'ordre : corrélation entre variables, R² de chacune seule, puis gain incrémental. Un gain nul = le coefficient ajuste du bruit.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8083296" y="1737360"/>
            <a:ext cx="3538728" cy="2377440"/>
          </a:xfrm>
          <a:prstGeom prst="roundRect">
            <a:avLst>
              <a:gd name="adj" fmla="val 3077"/>
            </a:avLst>
          </a:prstGeom>
          <a:solidFill>
            <a:srgbClr val="EDF2E6"/>
          </a:solidFill>
          <a:ln w="12700">
            <a:solidFill>
              <a:srgbClr val="EDF2E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8357616" y="1920240"/>
            <a:ext cx="3017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C056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 conséquence</a:t>
            </a:r>
            <a:endParaRPr lang="en-US" sz="2400" dirty="0"/>
          </a:p>
        </p:txBody>
      </p:sp>
      <p:sp>
        <p:nvSpPr>
          <p:cNvPr id="12" name="Text 10"/>
          <p:cNvSpPr/>
          <p:nvPr/>
        </p:nvSpPr>
        <p:spPr>
          <a:xfrm>
            <a:off x="8357616" y="2542032"/>
            <a:ext cx="30175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F2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coefficients ne s'interprètent plus un par un. Seule leur combinaison prédit — et le modèle reste utilisable.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40080" y="4389120"/>
            <a:ext cx="10881360" cy="1371600"/>
          </a:xfrm>
          <a:prstGeom prst="roundRect">
            <a:avLst>
              <a:gd name="adj" fmla="val 5333"/>
            </a:avLst>
          </a:prstGeom>
          <a:solidFill>
            <a:srgbClr val="1A3A1C"/>
          </a:solidFill>
          <a:ln w="12700">
            <a:solidFill>
              <a:srgbClr val="1A3A1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960120" y="4553712"/>
            <a:ext cx="10241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97BC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Les R² ne s'additionnent pas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960120" y="4937760"/>
            <a:ext cx="10241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0,6158 pour la masse seule, 0,7618 pour la puissance seule, 0,7886 pour les deux ensemble. L'information commune est partagée, pas additive : c'est le gain incrémental qui compte, jamais le R² d'une variable prise seule.</a:t>
            </a:r>
            <a:endParaRPr lang="en-US" sz="12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881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1F2A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 R² d'entraînement ne peut que monter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640080" y="1078992"/>
            <a:ext cx="10881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5E6E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Dès que le nombre de paramètres varie, il cesse d'être un critère de comparaison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40080" y="1737360"/>
            <a:ext cx="3538728" cy="2377440"/>
          </a:xfrm>
          <a:prstGeom prst="roundRect">
            <a:avLst>
              <a:gd name="adj" fmla="val 3077"/>
            </a:avLst>
          </a:prstGeom>
          <a:solidFill>
            <a:srgbClr val="EDF2E6"/>
          </a:solidFill>
          <a:ln w="12700">
            <a:solidFill>
              <a:srgbClr val="EDF2E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914400" y="1920240"/>
            <a:ext cx="3017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 mécanisme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914400" y="2542032"/>
            <a:ext cx="30175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F2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Une variable de plus donne un degré de liberté de plus. Même du bruit pur fait monter le R² d'entraînement.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361688" y="1737360"/>
            <a:ext cx="3538728" cy="2377440"/>
          </a:xfrm>
          <a:prstGeom prst="roundRect">
            <a:avLst>
              <a:gd name="adj" fmla="val 3077"/>
            </a:avLst>
          </a:prstGeom>
          <a:solidFill>
            <a:srgbClr val="EDF2E6"/>
          </a:solidFill>
          <a:ln w="12700">
            <a:solidFill>
              <a:srgbClr val="EDF2E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4636008" y="1920240"/>
            <a:ext cx="3017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Ce que ça masque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4636008" y="2542032"/>
            <a:ext cx="30175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F2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Rien ne distingue alors l'information réelle de l'ajustement au bruit. Le ratio inutile et la variable décisive montent tous les deux.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8083296" y="1737360"/>
            <a:ext cx="3538728" cy="2377440"/>
          </a:xfrm>
          <a:prstGeom prst="roundRect">
            <a:avLst>
              <a:gd name="adj" fmla="val 3077"/>
            </a:avLst>
          </a:prstGeom>
          <a:solidFill>
            <a:srgbClr val="EDF2E6"/>
          </a:solidFill>
          <a:ln w="12700">
            <a:solidFill>
              <a:srgbClr val="EDF2E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8357616" y="1920240"/>
            <a:ext cx="3017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C056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Ce qui le remplace</a:t>
            </a:r>
            <a:endParaRPr lang="en-US" sz="2400" dirty="0"/>
          </a:p>
        </p:txBody>
      </p:sp>
      <p:sp>
        <p:nvSpPr>
          <p:cNvPr id="12" name="Text 10"/>
          <p:cNvSpPr/>
          <p:nvPr/>
        </p:nvSpPr>
        <p:spPr>
          <a:xfrm>
            <a:off x="8357616" y="2542032"/>
            <a:ext cx="30175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F2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Évaluer sur des données non vues : train_test_split puis R² de test. Ou un R² ajusté, qui pénalise le nombre de paramètres.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40080" y="4389120"/>
            <a:ext cx="10881360" cy="1371600"/>
          </a:xfrm>
          <a:prstGeom prst="roundRect">
            <a:avLst>
              <a:gd name="adj" fmla="val 5333"/>
            </a:avLst>
          </a:prstGeom>
          <a:solidFill>
            <a:srgbClr val="1A3A1C"/>
          </a:solidFill>
          <a:ln w="12700">
            <a:solidFill>
              <a:srgbClr val="1A3A1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960120" y="4553712"/>
            <a:ext cx="10241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97BC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 R² de test supérieur au R² d'entraînement n'est pas une bonne nouvelle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960120" y="4937760"/>
            <a:ext cx="10241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signale un tirage favorable, pas un bon modèle. Le classement de plusieurs modèles reste valide s'ils partagent le même découpage ; les valeurs absolues, non. La validation croisée tranche.</a:t>
            </a:r>
            <a:endParaRPr lang="en-US" sz="12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881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1F2A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Comparer à quoi ?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640080" y="1078992"/>
            <a:ext cx="10881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5E6E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Une erreur ne se juge que relativement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40080" y="1737360"/>
            <a:ext cx="5166360" cy="1828800"/>
          </a:xfrm>
          <a:prstGeom prst="roundRect">
            <a:avLst>
              <a:gd name="adj" fmla="val 4000"/>
            </a:avLst>
          </a:prstGeom>
          <a:solidFill>
            <a:srgbClr val="EDF2E6"/>
          </a:solidFill>
          <a:ln w="12700">
            <a:solidFill>
              <a:srgbClr val="EDF2E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960120" y="1920240"/>
            <a:ext cx="4389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5E6E5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 référence naïve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960120" y="2377440"/>
            <a:ext cx="45720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F2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Prédire la moyenne du parc pour tous les véhicules, sans regarder aucune variable. C'est le modèle le plus bête possible — et le point de départ obligé.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6355080" y="1737360"/>
            <a:ext cx="5166360" cy="1828800"/>
          </a:xfrm>
          <a:prstGeom prst="roundRect">
            <a:avLst>
              <a:gd name="adj" fmla="val 4000"/>
            </a:avLst>
          </a:prstGeom>
          <a:solidFill>
            <a:srgbClr val="1A3A1C"/>
          </a:solidFill>
          <a:ln w="12700">
            <a:solidFill>
              <a:srgbClr val="1A3A1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6675120" y="1920240"/>
            <a:ext cx="4389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97BC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Ce qu'elle révèle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6675120" y="2377440"/>
            <a:ext cx="45720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15,5 g/km d'erreur ne veut rien dire seul. Rapporté à la référence, ça devient un résultat : masse, puissance et boîte divisent l'erreur par 2,8.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40080" y="3794760"/>
            <a:ext cx="10881360" cy="1051560"/>
          </a:xfrm>
          <a:prstGeom prst="roundRect">
            <a:avLst>
              <a:gd name="adj" fmla="val 6957"/>
            </a:avLst>
          </a:prstGeom>
          <a:solidFill>
            <a:srgbClr val="EDF2E6"/>
          </a:solidFill>
          <a:ln w="12700">
            <a:solidFill>
              <a:srgbClr val="EDF2E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1005840" y="3931920"/>
            <a:ext cx="2743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5E6E5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42,9 g/km</a:t>
            </a:r>
            <a:endParaRPr lang="en-US" sz="3200" dirty="0"/>
          </a:p>
        </p:txBody>
      </p:sp>
      <p:sp>
        <p:nvSpPr>
          <p:cNvPr id="12" name="Text 10"/>
          <p:cNvSpPr/>
          <p:nvPr/>
        </p:nvSpPr>
        <p:spPr>
          <a:xfrm>
            <a:off x="1005840" y="452628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5E6E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erreur de la référence naïve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4480560" y="4023360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97BC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600" dirty="0"/>
          </a:p>
        </p:txBody>
      </p:sp>
      <p:sp>
        <p:nvSpPr>
          <p:cNvPr id="14" name="Text 12"/>
          <p:cNvSpPr/>
          <p:nvPr/>
        </p:nvSpPr>
        <p:spPr>
          <a:xfrm>
            <a:off x="5669280" y="3931920"/>
            <a:ext cx="2743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15,5 g/km</a:t>
            </a:r>
            <a:endParaRPr lang="en-US" sz="3200" dirty="0"/>
          </a:p>
        </p:txBody>
      </p:sp>
      <p:sp>
        <p:nvSpPr>
          <p:cNvPr id="15" name="Text 13"/>
          <p:cNvSpPr/>
          <p:nvPr/>
        </p:nvSpPr>
        <p:spPr>
          <a:xfrm>
            <a:off x="5669280" y="4526280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F2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erreur du modèle, sur le jeu de test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640080" y="5074920"/>
            <a:ext cx="10881360" cy="777240"/>
          </a:xfrm>
          <a:prstGeom prst="roundRect">
            <a:avLst>
              <a:gd name="adj" fmla="val 9412"/>
            </a:avLst>
          </a:prstGeom>
          <a:solidFill>
            <a:srgbClr val="EDF2E6"/>
          </a:solidFill>
          <a:ln w="12700">
            <a:solidFill>
              <a:srgbClr val="EDF2E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960120" y="5193792"/>
            <a:ext cx="10241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F2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Même réflexe en classification : la classe majoritaire. Un modèle qui ne bat pas la référence naïve n'a rien appris.</a:t>
            </a:r>
            <a:endParaRPr lang="en-US" sz="13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881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1F2A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Les résidus, deuxième lecture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640080" y="1078992"/>
            <a:ext cx="10881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5E6E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 que le nuage dit quand on sait quoi y chercher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40080" y="1691640"/>
            <a:ext cx="5166360" cy="1920240"/>
          </a:xfrm>
          <a:prstGeom prst="roundRect">
            <a:avLst>
              <a:gd name="adj" fmla="val 3810"/>
            </a:avLst>
          </a:prstGeom>
          <a:solidFill>
            <a:srgbClr val="EDF2E6"/>
          </a:solidFill>
          <a:ln w="12700">
            <a:solidFill>
              <a:srgbClr val="EDF2E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932688" y="1984248"/>
            <a:ext cx="420624" cy="420624"/>
          </a:xfrm>
          <a:prstGeom prst="ellipse">
            <a:avLst/>
          </a:prstGeom>
          <a:solidFill>
            <a:srgbClr val="2C5F2D"/>
          </a:solidFill>
          <a:ln w="12700">
            <a:solidFill>
              <a:srgbClr val="2C5F2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932688" y="198424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508760" y="2002536"/>
            <a:ext cx="4023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 dispersion s'évase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932688" y="2606040"/>
            <a:ext cx="4572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1F2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L'erreur passe de 11,5 g/km en bas de gamme à 31,7 au-dessus de 300 kW. L'incertitude dépend du véhicule — le R² ne le dit pas.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355080" y="1691640"/>
            <a:ext cx="5166360" cy="1920240"/>
          </a:xfrm>
          <a:prstGeom prst="roundRect">
            <a:avLst>
              <a:gd name="adj" fmla="val 3810"/>
            </a:avLst>
          </a:prstGeom>
          <a:solidFill>
            <a:srgbClr val="EDF2E6"/>
          </a:solidFill>
          <a:ln w="12700">
            <a:solidFill>
              <a:srgbClr val="EDF2E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6647688" y="1984248"/>
            <a:ext cx="420624" cy="420624"/>
          </a:xfrm>
          <a:prstGeom prst="ellipse">
            <a:avLst/>
          </a:prstGeom>
          <a:solidFill>
            <a:srgbClr val="2C5F2D"/>
          </a:solidFill>
          <a:ln w="12700">
            <a:solidFill>
              <a:srgbClr val="2C5F2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6647688" y="198424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7223760" y="2002536"/>
            <a:ext cx="4023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 traînée est d'un seul côté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6647688" y="2606040"/>
            <a:ext cx="4572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1F2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vingt plus gros résidus sont tous positifs. Le modèle sous-estime sans jamais surestimer autant : signature d'une variable manquante.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640080" y="3977640"/>
            <a:ext cx="5166360" cy="1920240"/>
          </a:xfrm>
          <a:prstGeom prst="roundRect">
            <a:avLst>
              <a:gd name="adj" fmla="val 3810"/>
            </a:avLst>
          </a:prstGeom>
          <a:solidFill>
            <a:srgbClr val="EDF2E6"/>
          </a:solidFill>
          <a:ln w="12700">
            <a:solidFill>
              <a:srgbClr val="EDF2E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Shape 13"/>
          <p:cNvSpPr/>
          <p:nvPr/>
        </p:nvSpPr>
        <p:spPr>
          <a:xfrm>
            <a:off x="932688" y="4270248"/>
            <a:ext cx="420624" cy="420624"/>
          </a:xfrm>
          <a:prstGeom prst="ellipse">
            <a:avLst/>
          </a:prstGeom>
          <a:solidFill>
            <a:srgbClr val="2C5F2D"/>
          </a:solidFill>
          <a:ln w="12700">
            <a:solidFill>
              <a:srgbClr val="2C5F2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932688" y="427024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1508760" y="4288536"/>
            <a:ext cx="4023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Une courbure peut rester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932688" y="4892040"/>
            <a:ext cx="4572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1F2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Moyenne des résidus par décile de prédiction. Un motif en U = non-linéarité non captée. L'œil seul surinterprète les nuages denses.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6355080" y="3977640"/>
            <a:ext cx="5166360" cy="1920240"/>
          </a:xfrm>
          <a:prstGeom prst="roundRect">
            <a:avLst>
              <a:gd name="adj" fmla="val 3810"/>
            </a:avLst>
          </a:prstGeom>
          <a:solidFill>
            <a:srgbClr val="EDF2E6"/>
          </a:solidFill>
          <a:ln w="12700">
            <a:solidFill>
              <a:srgbClr val="EDF2E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Shape 18"/>
          <p:cNvSpPr/>
          <p:nvPr/>
        </p:nvSpPr>
        <p:spPr>
          <a:xfrm>
            <a:off x="6647688" y="4270248"/>
            <a:ext cx="420624" cy="420624"/>
          </a:xfrm>
          <a:prstGeom prst="ellipse">
            <a:avLst/>
          </a:prstGeom>
          <a:solidFill>
            <a:srgbClr val="2C5F2D"/>
          </a:solidFill>
          <a:ln w="12700">
            <a:solidFill>
              <a:srgbClr val="2C5F2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6647688" y="427024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7223760" y="4288536"/>
            <a:ext cx="4023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Attention aux zéros mécaniques</a:t>
            </a:r>
            <a:endParaRPr lang="en-US" sz="1700" dirty="0"/>
          </a:p>
        </p:txBody>
      </p:sp>
      <p:sp>
        <p:nvSpPr>
          <p:cNvPr id="23" name="Text 21"/>
          <p:cNvSpPr/>
          <p:nvPr/>
        </p:nvSpPr>
        <p:spPr>
          <a:xfrm>
            <a:off x="6647688" y="4892040"/>
            <a:ext cx="4572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1F2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résidu moyen par modalité d'une variable présente dans le modèle est nul par construction. Ça ne démontre rien.</a:t>
            </a:r>
            <a:endParaRPr lang="en-US" sz="13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881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1F2A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Hygiène de travail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640080" y="1078992"/>
            <a:ext cx="10881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5E6E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 qui distingue un brouillon d'un livrable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40080" y="1691640"/>
            <a:ext cx="3538728" cy="3017520"/>
          </a:xfrm>
          <a:prstGeom prst="roundRect">
            <a:avLst>
              <a:gd name="adj" fmla="val 2424"/>
            </a:avLst>
          </a:prstGeom>
          <a:solidFill>
            <a:srgbClr val="EDF2E6"/>
          </a:solidFill>
          <a:ln w="12700">
            <a:solidFill>
              <a:srgbClr val="EDF2E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914400" y="1874520"/>
            <a:ext cx="3017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Environnement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960120" y="2331720"/>
            <a:ext cx="29718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1F2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dossier = un projet = un .venv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1F2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Ouvrir le projet, pas le dossier parent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1F2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python quand un import échoue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1F2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requirements.txt : dépendances directes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361688" y="1691640"/>
            <a:ext cx="3538728" cy="3017520"/>
          </a:xfrm>
          <a:prstGeom prst="roundRect">
            <a:avLst>
              <a:gd name="adj" fmla="val 2424"/>
            </a:avLst>
          </a:prstGeom>
          <a:solidFill>
            <a:srgbClr val="1A3A1C"/>
          </a:solidFill>
          <a:ln w="12700">
            <a:solidFill>
              <a:srgbClr val="1A3A1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4636008" y="1874520"/>
            <a:ext cx="3017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97BC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Notebook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4681728" y="2331720"/>
            <a:ext cx="29718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Restart and Run All avant chaque commit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Une variable réutilisée = état fantôme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Numéros d'exécution dans l'ordre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Chaque chiffre affiché doit être mesuré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8083296" y="1691640"/>
            <a:ext cx="3538728" cy="3017520"/>
          </a:xfrm>
          <a:prstGeom prst="roundRect">
            <a:avLst>
              <a:gd name="adj" fmla="val 2424"/>
            </a:avLst>
          </a:prstGeom>
          <a:solidFill>
            <a:srgbClr val="EDF2E6"/>
          </a:solidFill>
          <a:ln w="12700">
            <a:solidFill>
              <a:srgbClr val="EDF2E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8357616" y="1874520"/>
            <a:ext cx="3017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Git &amp; portfolio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8403336" y="2331720"/>
            <a:ext cx="29718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1F2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/ commit / push, à chaque étape finie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1F2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.venv ignoré, jamais versionné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1F2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README : question, méthode, résultat, limites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1F2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Nommer les limites de son analyse</a:t>
            </a:r>
            <a:endParaRPr lang="en-US" sz="12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A3A1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645920" y="4023360"/>
            <a:ext cx="4206240" cy="4206240"/>
          </a:xfrm>
          <a:prstGeom prst="ellipse">
            <a:avLst/>
          </a:prstGeom>
          <a:solidFill>
            <a:srgbClr val="2C5F2D"/>
          </a:solidFill>
          <a:ln w="12700">
            <a:solidFill>
              <a:srgbClr val="2C5F2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572000" y="822960"/>
            <a:ext cx="6949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kern="0" spc="400" dirty="0">
                <a:solidFill>
                  <a:srgbClr val="97BC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fil rouge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4572000" y="1280160"/>
            <a:ext cx="69494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 résultat juste ne suffit pas</a:t>
            </a:r>
            <a:endParaRPr lang="en-US" sz="3400" dirty="0"/>
          </a:p>
        </p:txBody>
      </p:sp>
      <p:sp>
        <p:nvSpPr>
          <p:cNvPr id="5" name="Shape 3"/>
          <p:cNvSpPr/>
          <p:nvPr/>
        </p:nvSpPr>
        <p:spPr>
          <a:xfrm>
            <a:off x="4572000" y="2898648"/>
            <a:ext cx="128016" cy="128016"/>
          </a:xfrm>
          <a:prstGeom prst="ellipse">
            <a:avLst/>
          </a:prstGeom>
          <a:solidFill>
            <a:srgbClr val="97BC62"/>
          </a:solidFill>
          <a:ln w="12700">
            <a:solidFill>
              <a:srgbClr val="97BC6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4892040" y="2660904"/>
            <a:ext cx="6629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E4EE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doit être calculable à l'échelle réelle — d'où le coût et la vectorisation.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572000" y="3648456"/>
            <a:ext cx="128016" cy="128016"/>
          </a:xfrm>
          <a:prstGeom prst="ellipse">
            <a:avLst/>
          </a:prstGeom>
          <a:solidFill>
            <a:srgbClr val="97BC62"/>
          </a:solidFill>
          <a:ln w="12700">
            <a:solidFill>
              <a:srgbClr val="97BC6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4892040" y="3410712"/>
            <a:ext cx="6629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E4EE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doit être vérifié, car l'erreur la plus dangereuse ne plante pas.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572000" y="4398264"/>
            <a:ext cx="128016" cy="128016"/>
          </a:xfrm>
          <a:prstGeom prst="ellipse">
            <a:avLst/>
          </a:prstGeom>
          <a:solidFill>
            <a:srgbClr val="97BC62"/>
          </a:solidFill>
          <a:ln w="12700">
            <a:solidFill>
              <a:srgbClr val="97BC6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4892040" y="4160520"/>
            <a:ext cx="6629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E4EE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doit être situé : sur quelle population, avec quelle métrique, dans quelles limites.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4572000" y="5148072"/>
            <a:ext cx="128016" cy="128016"/>
          </a:xfrm>
          <a:prstGeom prst="ellipse">
            <a:avLst/>
          </a:prstGeom>
          <a:solidFill>
            <a:srgbClr val="97BC62"/>
          </a:solidFill>
          <a:ln w="12700">
            <a:solidFill>
              <a:srgbClr val="97BC6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4892040" y="4910328"/>
            <a:ext cx="6629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E4EE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doit être reproductible par quelqu'un d'autre.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4572000" y="5852160"/>
            <a:ext cx="6949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i="1" dirty="0">
                <a:solidFill>
                  <a:srgbClr val="97BC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Prochaine étape : classification — une cible binaire, une autre fonction de coût, d'autres métriques que le R².</a:t>
            </a:r>
            <a:endParaRPr lang="en-US" sz="12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881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1F2A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 préparation fait partie du modèle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640080" y="1078992"/>
            <a:ext cx="10881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5E6E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Une fuite peut venir du code, pas seulement des données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40080" y="1737360"/>
            <a:ext cx="3538728" cy="2377440"/>
          </a:xfrm>
          <a:prstGeom prst="roundRect">
            <a:avLst>
              <a:gd name="adj" fmla="val 3077"/>
            </a:avLst>
          </a:prstGeom>
          <a:solidFill>
            <a:srgbClr val="EDF2E6"/>
          </a:solidFill>
          <a:ln w="12700">
            <a:solidFill>
              <a:srgbClr val="EDF2E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914400" y="1920240"/>
            <a:ext cx="3017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 symptôme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914400" y="2542032"/>
            <a:ext cx="30175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F2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score de test trop beau, jamais retrouvé ensuite. Rien ne plante, rien n'avertit : le chiffre est simplement faux.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361688" y="1737360"/>
            <a:ext cx="3538728" cy="2377440"/>
          </a:xfrm>
          <a:prstGeom prst="roundRect">
            <a:avLst>
              <a:gd name="adj" fmla="val 3077"/>
            </a:avLst>
          </a:prstGeom>
          <a:solidFill>
            <a:srgbClr val="EDF2E6"/>
          </a:solidFill>
          <a:ln w="12700">
            <a:solidFill>
              <a:srgbClr val="EDF2E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4636008" y="1920240"/>
            <a:ext cx="3017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 cause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4636008" y="2542032"/>
            <a:ext cx="30175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F2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μ et σ calculés sur tout X avant le découpage. L'information du jeu de test entre dans la préparation, donc dans le modèle.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8083296" y="1737360"/>
            <a:ext cx="3538728" cy="2377440"/>
          </a:xfrm>
          <a:prstGeom prst="roundRect">
            <a:avLst>
              <a:gd name="adj" fmla="val 3077"/>
            </a:avLst>
          </a:prstGeom>
          <a:solidFill>
            <a:srgbClr val="EDF2E6"/>
          </a:solidFill>
          <a:ln w="12700">
            <a:solidFill>
              <a:srgbClr val="EDF2E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8357616" y="1920240"/>
            <a:ext cx="3017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C056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 remède</a:t>
            </a:r>
            <a:endParaRPr lang="en-US" sz="2400" dirty="0"/>
          </a:p>
        </p:txBody>
      </p:sp>
      <p:sp>
        <p:nvSpPr>
          <p:cNvPr id="12" name="Text 10"/>
          <p:cNvSpPr/>
          <p:nvPr/>
        </p:nvSpPr>
        <p:spPr>
          <a:xfrm>
            <a:off x="8357616" y="2542032"/>
            <a:ext cx="30175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F2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pipeline : la préparation et l'estimateur deviennent un seul objet, qui s'ajuste d'un bloc sur le seul jeu d'entraînement.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40080" y="4389120"/>
            <a:ext cx="10881360" cy="1371600"/>
          </a:xfrm>
          <a:prstGeom prst="roundRect">
            <a:avLst>
              <a:gd name="adj" fmla="val 5333"/>
            </a:avLst>
          </a:prstGeom>
          <a:solidFill>
            <a:srgbClr val="1A3A1C"/>
          </a:solidFill>
          <a:ln w="12700">
            <a:solidFill>
              <a:srgbClr val="1A3A1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960120" y="4553712"/>
            <a:ext cx="10241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97BC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Séquentiel ou parallèle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960120" y="4937760"/>
            <a:ext cx="10241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Pipeline enchaîne : la sortie d'une étape est l'entrée de la suivante. ColumnTransformer découpe : chaque branche ses colonnes, sorties concaténées. Une liste de paires (nom, objet) des deux côtés — ces noms préfixent les hyperparamètres.</a:t>
            </a:r>
            <a:endParaRPr lang="en-US" sz="12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264</TotalTime>
  <Words>2501</Words>
  <Application>Microsoft Macintosh PowerPoint</Application>
  <PresentationFormat>Widescreen</PresentationFormat>
  <Paragraphs>308</Paragraphs>
  <Slides>21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6" baseType="lpstr">
      <vt:lpstr>Arial</vt:lpstr>
      <vt:lpstr>Calibri</vt:lpstr>
      <vt:lpstr>Cambria</vt:lpstr>
      <vt:lpstr>Courier New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Mémo Machine Learning</dc:title>
  <dc:subject>PptxGenJS Presentation</dc:subject>
  <dc:creator>Aissatou Gueye</dc:creator>
  <cp:lastModifiedBy>AISSATOU GUEYE</cp:lastModifiedBy>
  <cp:revision>2</cp:revision>
  <dcterms:created xsi:type="dcterms:W3CDTF">2026-08-22T15:48:51Z</dcterms:created>
  <dcterms:modified xsi:type="dcterms:W3CDTF">2026-09-07T21:14:11Z</dcterms:modified>
</cp:coreProperties>
</file>