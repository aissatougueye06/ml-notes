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7" r:id="rId28"/>
    <p:sldId id="272" r:id="rId16"/>
    <p:sldId id="273" r:id="rId17"/>
    <p:sldId id="274" r:id="rId18"/>
    <p:sldId id="275" r:id="rId19"/>
    <p:sldId id="276" r:id="rId20"/>
    <p:sldId id="269" r:id="rId21"/>
    <p:sldId id="278" r:id="rId29"/>
    <p:sldId id="279" r:id="rId30"/>
    <p:sldId id="280" r:id="rId3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5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1F"/>
                </a:solidFill>
                <a:latin typeface="Calibri"/>
              </a:rPr>
              <a:t>Itérations nécessaires (mesuré)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Itérations pour converger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1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α = 0,01</c:v>
                </c:pt>
                <c:pt idx="1">
                  <c:v>α = 0,1</c:v>
                </c:pt>
                <c:pt idx="2">
                  <c:v>α = 0,4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</c:v>
                </c:pt>
                <c:pt idx="1">
                  <c:v>4000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5D-024E-9746-57559D6869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82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Mémo personnel. Une idée par slide, à relire avant chaque nouvelle semaine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2377440" cy="2377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retiens — de Python à la descente de gradient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Réflexes transférables pour la suite du cours et le métier d'ingénieure 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axes à garder en tête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ce qui a été vu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984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d'opérations ? Un code juste peut être inutilisable à grande échelle.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47688" y="1984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47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002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avant tout. La majorité des bugs viennent de dimensions qui ne correspondent pas.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4270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288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silence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les plus coûteuses ne plantent pas : elles renvoient un chiffre faux.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47688" y="4270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476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288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question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7688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métrique décide de la conclusion. Toujours savoir ce qu'on mesure.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Penser au coût, pas seulement au résultat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complexité dit comment le temps de calcul grandit avec la taille des données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rencontré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à une clé de dictionnaire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Divisé par 2 à chaque étape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dichotomique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 d'une liste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pour un tri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fusion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Explose vite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boucles imbriquées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d'éléments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heures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fraction de seconde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45262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réflexes qui reviennent partout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012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dès qu'on sait (early exit) — inutile de continuer quand la réponse est acquise.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ce qu'on sait déjà — liste triée, données déjà dédoublonnées, moitiés déjà triées.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Vectoriser plutôt que boucler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prolongement direct du réflexe de coût, dans le monde NumPy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pur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= []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liste: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resultat.append(x * 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tourne dans l'interpréteur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920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= tableau *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descend dans du C compilé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 (mesuré, 5 M d'éléments)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61688" y="42519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008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36008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mémoire : octets bruts, pas des objets Python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3296" y="42519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57616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57616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visible dans le code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— les quatre réflexes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de tout le calcul en machine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922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shape, toujours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est l'attribut le plus consulté. La plupart des erreurs viennent de formes qui ne correspondent pas.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M.shape  →  (3, 4)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127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626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467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aligne les formes en partant de la droite. Compatibles si égales, ou si l'une vaut 1. Un (3,) n'a pas d'orientation.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9992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(3,4) + (4,)   ✓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(3,4) + (3,)   ✗   → v[:, None]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(3,4) + (3,1)  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133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axis = l'axe qui disparaît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5171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agrégation réduit d'une dimension. keepdims=True conserve l'axe à la taille 1 pour rebroadcaster.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89320" y="416966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C.mean(axis=0)  →  (4,)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C.mean(axis=1, keepdims=True)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5721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546811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5303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Masques booléens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5687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comparaison renvoie un tableau. On filtre avec &amp;, | et ~ — jamais and/or — et parenthèses obligatoires.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89320" y="534009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a[(a &gt; 3) &amp; (a &lt; 9)]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— les gestes qui reviennent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un jeu de données, le nettoyer, l'interroger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Découvrir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dit ce qu'on a, describe() où sont les valeurs aberrantes.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008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Sélectionner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6008" y="23317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        → Series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df[["a","b"]]     → DataFrame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df.loc[2, "nom"]  étiquette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df.iloc[0:3]      position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36008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double crochet est une liste : le résultat reste en 2D.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57616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57616" y="23317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df[df["age"] &gt; 30]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df.groupby("ville")["x"].mean()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df.groupby("x").agg(["mean","count"])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57616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count à côté de mean : une moyenne sans effectif ne veut rien dire.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pièges silencieux des données réelles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ne provoque d'erreur — tous produisent un résultat faux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965960"/>
            <a:ext cx="128016" cy="128016"/>
          </a:xfrm>
          <a:prstGeom prst="ellipse">
            <a:avLst/>
          </a:prstGeom>
          <a:solidFill>
            <a:srgbClr val="C0562F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856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Espaces invisibles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4048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exports à format fixe laissent des espaces de fin. "GO " ≠ "GO", et l'affichage ne montre rien.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 dès le chargement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47688" y="1965960"/>
            <a:ext cx="128016" cy="128016"/>
          </a:xfrm>
          <a:prstGeom prst="ellipse">
            <a:avLst/>
          </a:prstGeom>
          <a:solidFill>
            <a:srgbClr val="C0562F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3720" y="1856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 qui ne renvoie rien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47688" y="24048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vide se propage : .mean() donne nan, .max() lève une erreur trois étapes plus loin.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47688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 .size &gt;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4069080"/>
            <a:ext cx="128016" cy="128016"/>
          </a:xfrm>
          <a:prstGeom prst="ellipse">
            <a:avLst/>
          </a:prstGeom>
          <a:solidFill>
            <a:srgbClr val="C0562F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3959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Moyenne sans effectif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45079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moyenne sur 1 élément s'affiche comme les autres. Rien ne signale qu'elle ne veut rien dire.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agg(["mean", "count"])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7947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47688" y="4069080"/>
            <a:ext cx="128016" cy="128016"/>
          </a:xfrm>
          <a:prstGeom prst="ellipse">
            <a:avLst/>
          </a:prstGeom>
          <a:solidFill>
            <a:srgbClr val="C0562F"/>
          </a:solidFill>
          <a:ln w="12700">
            <a:solidFill>
              <a:srgbClr val="C05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3959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 ignoré par défaut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47688" y="45079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mean() saute les valeurs manquantes : le dénominateur change sans avertissement.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47688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isna().sum() avant tout calcul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manquantes : pourquoi est-elle absente 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question n'est pas « comment je la comble ?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structurelle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porte une information : la mesure n'existe pas pour cette catégorie.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Deux colonnes complémentaires selon la norme appliquée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Une grandeur nulle par nature, laissée vide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dropna() global supprimerait une catégorie entière.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accidentelle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existe mais n'a pas été renseignée.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Quelques pourcents épars, sans motif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 lien avec une catégorie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Là, dropna() ou fillna() se discutent.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les valeurs manquantes avec une variable catégorielle révèle le motif — et évite de biaiser toute l'analyse.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triptyque de l'apprentissage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briques distinctes — le même mécanisme entraîne un réseau de neurones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wx +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 un x, suppose w et b connus, produit une prédiction.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0507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71416" y="17373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45736" y="196596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573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45736" y="2560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fonction de coût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45736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J(w,b)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736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à quel point ce couple (w, b) est mauvais. Moyenne des erreurs au carré.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02752" y="17373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77072" y="1965960"/>
            <a:ext cx="420624" cy="42062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7707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77072" y="2560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descente de gradient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77072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α ∂J/∂w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w et b pas à pas dans le sens de la pente, jusqu'au minimum.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LinearRegression().fit(X, y) condense les trois. Comprendre le mécanisme reste indispensable — il se généralise.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taux d'apprentissage vit dans une fenêtre étroite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petit : on n'arrive jamais. Trop grand : tout diverge en nan.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6675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19019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0,001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itérations et toujours pas arrivé. Ça avance, mais dix fois trop lentement.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342900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5528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0,46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explose au lieu de baisser : inf, puis nan. Un nan contamine tout ce qui suit.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5230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 coût en fonction des itérations est le diagnostic de base : il doit décroître à chaque pas.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normalisation ne sert pas qu'au multi-variables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Centrer x découple w et b — la vallée étroite redevient un bol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normalisation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n'est pas centré : augmenter w relève toutes les prédictions, b doit compenser. Les deux paramètres sont couplés — le coût forme une vallée longue et étroite.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normalisation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μ) / σ  →  les directions deviennent indépendantes, la descente va tout droit. Et un α bien plus grand devient utilisable sans diverger.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20 000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sans normaliser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692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après normalisation, à α identique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5193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μ et σ : les paramètres appris portent sur la variable transformée. Il faut les reconvertir pour retrouver des unités interprétables.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Évaluer un modèle : combien, et surtout où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global ne dit jamais où le modèle échoue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variation expliquée. En régression simple, c'est exactement le carré de la corrélation.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/ RMSE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36008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moyenne, dans l'unité de la cible. Directement interprétable, contrairement au coût J.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résidus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57616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graphique le plus informatif. Des erreurs qui s'évasent ou une traînée asymétrique désignent une variable manquante.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5537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calcul du R² dépend de la population choisie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Mélanger deux sous-populations brouille la relation ; isoler une catégorie peut la révéler beaucoup plus nette. Un même indicateur calculé sur deux périmètres différents n'est pas comparable.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Corrélation, pente, causalité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notions souvent confondues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48256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corrélation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94960" y="195681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l'alignement des points. Sans unité, toujours entre −1 et 1, insensible au changement d'échelle.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325526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1272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316382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combien y varie quand x augmente d'une unité. A une unité, dépend des échelles choisies.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462272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334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l'une ni l'autre n'est une cause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94960" y="43708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corrélation forte peut refléter une identité physique, une variable cachée, ou une coïncidence.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55595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corrélation faible ne signifie pas absence de relation : le coefficient ne mesure que la linéarité. Toujours regarder le nuage de points.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variable trop bonne pour être vraie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de 0,999 n'est pas une bonne nouvelle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Fuite directe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CO₂ homologué est calculé à partir de la consommation : leur rapport est une constante.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= 0,999 et MAE = 0,9 g/km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Coefficient appris : 2,64 kg de CO₂ par litre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d'émission du gazole — une constante physique, pas un paramètre.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Fuite par formule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administrative se calcule depuis 1998 par une formule qui contient le CO₂.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Corrélation avec la cible : 0,708 seulement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formule reproduit 99,5 % des lignes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fuite non linéaire est invisible dans une matrice de corrélation.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5029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: cette variable serait-elle connue avant la cible, en situation réelle ? Sinon, elle sort du modèle.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préparation fait partie du modèle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fuite peut venir du code, pas seulement des données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symptôme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de test trop beau, jamais retrouvé ensuite. Rien ne plante, rien n'avertit : le chiffre est simplement faux.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36008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et σ calculés sur tout X avant le découpage. L'information du jeu de test entre dans la préparation, donc dans le modèle.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remède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57616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: la préparation et l'estimateur deviennent un seul objet, qui s'ajuste d'un bloc sur le seul jeu d'entraînement.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5537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Séquentiel ou parallèle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enchaîne : la sortie d'une étape est l'entrée de la suivante. ColumnTransformer découpe : chaque branche ses colonnes, sorties concaténées. Une liste de paires (nom, objet) des deux côtés — ces noms préfixent les hyperparamètres.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ligne n'est pas une observation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l'unité du fichier avant tout calcul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contient le fichier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véhicule est déclaré une fois par variante d'homologation : mêmes masse, puissance et CO₂, numéros de dossier différents. Rien ne signale la répétition.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fait au modèle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déclaré en 18 versions pèse 18 fois plus lourd dans la somme des carrés. L'ajustement suit le catalogue commercial, pas la physique.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6 934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essence dans le fichier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2 406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692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après dédoublonnage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5193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Dédoublonner sur des clés métier explicites — et dire lesquelles. Ici : marque, modèle, masse, puissance, CO₂.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deux variables se recouvrent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colinéarité ne fausse pas les prédictions — elle interdit de lire les coefficients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symptôme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coefficient au signe physiquement absurde : à masse égale, plus le véhicule serait puissant, moins il émettrait.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diagnostic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36008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l'ordre : corrélation entre variables, R² de chacune seule, puis gain incrémental. Un gain nul = le coefficient ajuste du bruit.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conséquence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57616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ne s'interprètent plus un par un. Seule leur combinaison prédit — et le modèle reste utilisable.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5537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R² ne s'additionnent pas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0,6158 pour la masse seule, 0,7618 pour la puissance seule, 0,7886 pour les deux ensemble. L'information commune est partagée, pas additive : c'est le gain incrémental qui compte, jamais le R² d'une variable prise seule.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R² d'entraînement ne peut que monter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que le nombre de paramètres varie, il cesse d'être un critère de comparaison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mécanisme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de plus donne un degré de liberté de plus. Même du bruit pur fait monter le R² d'entraînement.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masque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36008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distingue alors l'information réelle de l'ajustement au bruit. Le ratio inutile et la variable décisive montent tous les deux.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le remplace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57616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sur des données non vues : train_test_split puis R² de test. Ou un R² ajusté, qui pénalise le nombre de paramètres.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5537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R² de test supérieur au R² d'entraînement n'est pas une bonne nouvelle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signale un tirage favorable, pas un bon modèle. Le classement de plusieurs modèles reste valide s'ils partagent le même découpage ; les valeurs absolues, non. La validation croisée tranche.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Comparer à quoi 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ne se juge que relativement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référence naïve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moyenne du parc pour tous les véhicules, sans regarder aucune variable. C'est le modèle le plus bête possible — et le point de départ obligé.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qu'elle révèle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g/km d'erreur ne veut rien dire seul. Rapporté à la référence, ça devient un résultat : masse, puissance et boîte divisent l'erreur par 2,8.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6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42,9 g/km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la référence naïve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3931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 g/km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6692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du modèle, sur le jeu de test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5193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réflexe en classification : la classe majoritaire. Un modèle qui ne bat pas la référence naïve n'a rien appris.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résidus, deuxième lecture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nuage dit quand on sait quoi y chercher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984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dispersion s'évase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passe de 11,5 g/km en bas de gamme à 31,7 au-dessus de 300 kW. L'incertitude dépend du véhicule — le R² ne le dit pas.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47688" y="1984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47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002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traînée est d'un seul côté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vingt plus gros résidus sont tous positifs. Le modèle sous-estime sans jamais surestimer autant : signature d'une variable manquante.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4270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288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courbure peut rester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résidus par décile de prédiction. Un motif en U = non-linéarité non captée. L'œil seul surinterprète les nuages denses.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47688" y="4270248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476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288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aux zéros mécaniques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7688" y="4892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résidu moyen par modalité d'une variable présente dans le modèle est nul par construction. Ça ne démontre rien.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Hygiène de travail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distingue un brouillon d'un livrable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= un projet = un .venv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projet, pas le dossier parent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python quand un import échoue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: dépendances directes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1A3A1C"/>
          </a:solidFill>
          <a:ln w="12700">
            <a:solidFill>
              <a:srgbClr val="1A3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81728" y="2331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and Run All avant chaque commit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réutilisée = état fantôme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d'exécution dans l'ordre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chiffre affiché doit être mesuré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EDF2E6"/>
          </a:solidFill>
          <a:ln w="12700">
            <a:solidFill>
              <a:srgbClr val="EDF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57616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portfolio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03336" y="2331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commit / push, à chaque étape finie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 ignoré, jamais versionné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: question, méthode, résultat, limites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les limites de son analyse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0" y="822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résultat juste ne suffit pas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2898648"/>
            <a:ext cx="128016" cy="12801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92040" y="2660904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être calculable à l'échelle réelle — d'où le coût et la vectorisation.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3648456"/>
            <a:ext cx="128016" cy="12801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341071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être vérifié, car l'erreur la plus dangereuse ne plante pas.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4398264"/>
            <a:ext cx="128016" cy="12801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416052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être situé : sur quelle population, avec quelle métrique, dans quelles limites.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5148072"/>
            <a:ext cx="128016" cy="12801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4910328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être reproductible par quelqu'un d'autre.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5852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classification, le fil rouge ne change pas : vérifier, situer, rendre reproductible.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400" b="1" i="0">
                <a:solidFill>
                  <a:srgbClr val="1F2A1F"/>
                </a:solidFill>
                <a:latin typeface="Cambria"/>
              </a:rPr>
              <a:t>Classer, ou prédire puis seuiller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400" b="0" i="1">
                <a:solidFill>
                  <a:srgbClr val="5E6E5E"/>
                </a:solidFill>
                <a:latin typeface="Calibri"/>
              </a:rPr>
              <a:t>Deux chemins vers la même décision binaire — et ils se valent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700" b="1" i="0">
                <a:solidFill>
                  <a:srgbClr val="2C5F2D"/>
                </a:solidFill>
                <a:latin typeface="Cambria"/>
              </a:rPr>
              <a:t>Classer directement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04288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200" b="0" i="0">
                <a:solidFill>
                  <a:srgbClr val="1F2A1F"/>
                </a:solidFill>
                <a:latin typeface="Calibri"/>
              </a:rPr>
              <a:t>Le modèle ajuste la frontière elle-même et reste conservateur. Il est plus précis : quand il annonce un malus, il se trompe moins souvent.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1" i="0">
                <a:solidFill>
                  <a:srgbClr val="2C5F2D"/>
                </a:solidFill>
                <a:latin typeface="Calibri"/>
              </a:rPr>
              <a:t>Precision 88,6 %   ·   Recall 85,4 %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A3A1C"/>
          </a:solidFill>
          <a:ln w="12700">
            <a:solidFill>
              <a:srgbClr val="1A3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700" b="1" i="0">
                <a:solidFill>
                  <a:srgbClr val="97BC62"/>
                </a:solidFill>
                <a:latin typeface="Cambria"/>
              </a:rPr>
              <a:t>Prédire, puis seuiller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04288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 modèle prédit des grammes. Son erreur moyenne (≈ 13 g/km) lui fait franchir le seuil plus facilement : il manque moins de malus réels.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1" i="0">
                <a:solidFill>
                  <a:srgbClr val="97BC62"/>
                </a:solidFill>
                <a:latin typeface="Calibri"/>
              </a:rPr>
              <a:t>Precision 85,3 %   ·   Recall 88,8 %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5E6E5E"/>
                </a:solidFill>
                <a:latin typeface="Cambria"/>
              </a:rPr>
              <a:t>87,0 %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62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5E6E5E"/>
                </a:solidFill>
                <a:latin typeface="Calibri"/>
              </a:rPr>
              <a:t>F1 de la classification directe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97BC62"/>
                </a:solidFill>
                <a:latin typeface="Calibri"/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8620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2C5F2D"/>
                </a:solidFill>
                <a:latin typeface="Cambria"/>
              </a:rPr>
              <a:t>87,0 %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62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1F2A1F"/>
                </a:solidFill>
                <a:latin typeface="Calibri"/>
              </a:rPr>
              <a:t>F1 de la régression + seuil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02352"/>
            <a:ext cx="1024128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300" b="0" i="0">
                <a:solidFill>
                  <a:srgbClr val="1F2A1F"/>
                </a:solidFill>
                <a:latin typeface="Calibri"/>
              </a:rPr>
              <a:t>Vérifié sur trois découpages : l'écart entre les deux approches est plus petit que la variation d'un tirage à l'autre. Ce qui les sépare n'est pas la quantité d'erreurs, mais leur nature — donc le choix relève du coût métier.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400" b="1" i="0">
                <a:solidFill>
                  <a:srgbClr val="1F2A1F"/>
                </a:solidFill>
                <a:latin typeface="Cambria"/>
              </a:rPr>
              <a:t>Precision, recall,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400" b="0" i="1">
                <a:solidFill>
                  <a:srgbClr val="5E6E5E"/>
                </a:solidFill>
                <a:latin typeface="Calibri"/>
              </a:rPr>
              <a:t>Trois questions différentes — tout se joue sur l'ensemble d'où l'on 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700" b="1" i="0">
                <a:solidFill>
                  <a:srgbClr val="2C5F2D"/>
                </a:solidFill>
                <a:latin typeface="Cambria"/>
              </a:rPr>
              <a:t>Les quatre 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49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050" b="0" i="0">
                <a:solidFill>
                  <a:srgbClr val="5E6E5E"/>
                </a:solidFill>
                <a:latin typeface="Calibri"/>
              </a:rPr>
              <a:t>prédit positif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249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050" b="0" i="0">
                <a:solidFill>
                  <a:srgbClr val="5E6E5E"/>
                </a:solidFill>
                <a:latin typeface="Calibri"/>
              </a:rPr>
              <a:t>prédit négatif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5E6E5E"/>
                </a:solidFill>
                <a:latin typeface="Calibri"/>
              </a:rPr>
              <a:t>réel positif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5603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VP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C0562F"/>
          </a:solidFill>
          <a:ln w="12700">
            <a:solidFill>
              <a:srgbClr val="C05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5603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5E6E5E"/>
                </a:solidFill>
                <a:latin typeface="Calibri"/>
              </a:rPr>
              <a:t>réel négatif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30906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C0562F"/>
          </a:solidFill>
          <a:ln w="12700">
            <a:solidFill>
              <a:srgbClr val="C05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090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0906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090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VN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118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5E6E5E"/>
                </a:solidFill>
                <a:latin typeface="Calibri"/>
              </a:rPr>
              <a:t>FP = fausse alerte   ·   FN = cas manqué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4592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2C5F2D"/>
                </a:solidFill>
                <a:latin typeface="Courier New"/>
              </a:rPr>
              <a:t>Precision = VP / (VP + FP)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1F2A1F"/>
                </a:solidFill>
                <a:latin typeface="Calibri"/>
              </a:rPr>
              <a:t>part du PRÉDIT positif — quand j'annonce, ai-je raison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2C5F2D"/>
                </a:solidFill>
                <a:latin typeface="Courier New"/>
              </a:rPr>
              <a:t>Recall    = VP / (VP + FN)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889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1F2A1F"/>
                </a:solidFill>
                <a:latin typeface="Calibri"/>
              </a:rPr>
              <a:t>part du RÉEL positif — combien en ai-je trouvés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2C5F2D"/>
                </a:solidFill>
                <a:latin typeface="Courier New"/>
              </a:rPr>
              <a:t>F1        = 2PR / (P + 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1F2A1F"/>
                </a:solidFill>
                <a:latin typeface="Calibri"/>
              </a:rPr>
              <a:t>moyenne harmonique — élevée seulement si les deux le sont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23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6052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5E6E5E"/>
                </a:solidFill>
                <a:latin typeface="Cambria"/>
              </a:rPr>
              <a:t>72,6 %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736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5E6E5E"/>
                </a:solidFill>
                <a:latin typeface="Calibri"/>
              </a:rPr>
              <a:t>F1 du naïf, qui prédit « malus » partout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519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97BC62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160520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2C5F2D"/>
                </a:solidFill>
                <a:latin typeface="Cambria"/>
              </a:rPr>
              <a:t>87,0 %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736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150" b="0" i="0">
                <a:solidFill>
                  <a:srgbClr val="1F2A1F"/>
                </a:solidFill>
                <a:latin typeface="Calibri"/>
              </a:rPr>
              <a:t>F1 du modèle : +14 points, et non +30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66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285232"/>
            <a:ext cx="10241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300" b="0" i="0">
                <a:solidFill>
                  <a:srgbClr val="1F2A1F"/>
                </a:solidFill>
                <a:latin typeface="Calibri"/>
              </a:rPr>
              <a:t>F1 ignore complètement les vrais négatifs : elle ne regarde qu'autour de la classe positive. L'accuracy les compte — les deux sont complémentaires, pas redondantes.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3400" b="1" i="0">
                <a:solidFill>
                  <a:srgbClr val="1F2A1F"/>
                </a:solidFill>
                <a:latin typeface="Cambria"/>
              </a:rPr>
              <a:t>L'erreur n'est pas uniforme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400" b="0" i="1">
                <a:solidFill>
                  <a:srgbClr val="5E6E5E"/>
                </a:solidFill>
                <a:latin typeface="Calibri"/>
              </a:rPr>
              <a:t>Taux d'erreur des deux approches, par distance au seuil du malus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C0562F"/>
                </a:solidFill>
                <a:latin typeface="Cambria"/>
              </a:rPr>
              <a:t>≈ 41 %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1F2A1F"/>
                </a:solidFill>
                <a:latin typeface="Cambria"/>
              </a:rPr>
              <a:t>moins de 5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7121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5E6E5E"/>
                </a:solidFill>
                <a:latin typeface="Calibri"/>
              </a:rPr>
              <a:t>163 véhicules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9164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74519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C0562F"/>
                </a:solidFill>
                <a:latin typeface="Cambria"/>
              </a:rPr>
              <a:t>≈ 36 %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1F2A1F"/>
                </a:solidFill>
                <a:latin typeface="Cambria"/>
              </a:rPr>
              <a:t>5 à 10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7121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5E6E5E"/>
                </a:solidFill>
                <a:latin typeface="Calibri"/>
              </a:rPr>
              <a:t>129 véhicules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5E6E5E"/>
                </a:solidFill>
                <a:latin typeface="Cambria"/>
              </a:rPr>
              <a:t>≈ 13 %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1F2A1F"/>
                </a:solidFill>
                <a:latin typeface="Cambria"/>
              </a:rPr>
              <a:t>10 à 20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7121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5E6E5E"/>
                </a:solidFill>
                <a:latin typeface="Calibri"/>
              </a:rPr>
              <a:t>249 véhicules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9164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874519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2C5F2D"/>
                </a:solidFill>
                <a:latin typeface="Cambria"/>
              </a:rPr>
              <a:t>≈ 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1F2A1F"/>
                </a:solidFill>
                <a:latin typeface="Cambria"/>
              </a:rPr>
              <a:t>plus de 20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87121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5E6E5E"/>
                </a:solidFill>
                <a:latin typeface="Calibri"/>
              </a:rPr>
              <a:t>556 véhicules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03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buNone/>
            </a:pPr>
            <a:r>
              <a:rPr sz="1500" b="1" i="0">
                <a:solidFill>
                  <a:srgbClr val="2C5F2D"/>
                </a:solidFill>
                <a:latin typeface="Cambria"/>
              </a:rPr>
              <a:t>Chercher le régime, pas la moyenne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87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250" b="0" i="0">
                <a:solidFill>
                  <a:srgbClr val="1F2A1F"/>
                </a:solidFill>
                <a:latin typeface="Calibri"/>
              </a:rPr>
              <a:t>Quand une décision binaire dérive d'une grandeur continue, les erreurs se concentrent près du seuil : un facteur 12 à 15 entre les deux extrêmes. Un score global de 85 % moyennait deux régimes — fiable loin de la frontière, quasi aléatoire à moins de 5 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6"/>
          </a:solidFill>
          <a:ln w="12700">
            <a:solidFill>
              <a:srgbClr val="ED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262372"/>
            <a:ext cx="128016" cy="128016"/>
          </a:xfrm>
          <a:prstGeom prst="ellipse">
            <a:avLst/>
          </a:prstGeom>
          <a:solidFill>
            <a:srgbClr val="C0562F"/>
          </a:solidFill>
          <a:ln w="12700">
            <a:solidFill>
              <a:srgbClr val="C05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" y="5056632"/>
            <a:ext cx="996696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sz="1300" b="0" i="0">
                <a:solidFill>
                  <a:srgbClr val="1F2A1F"/>
                </a:solidFill>
                <a:latin typeface="Calibri"/>
              </a:rPr>
              <a:t>Une PRÉDICTION près du seuil n'est pas une valeur réelle près du seuil : un véhicule à 216 g estimé à 132 g tombe du bon côté par chance.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2501</Words>
  <Application>Microsoft Macintosh PowerPoint</Application>
  <PresentationFormat>Widescreen</PresentationFormat>
  <Paragraphs>308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Mémo Machine Learning</dc:title>
  <dc:subject>PptxGenJS Presentation</dc:subject>
  <dc:creator>Aissatou Gueye</dc:creator>
  <cp:lastModifiedBy>AISSATOU GUEYE</cp:lastModifiedBy>
  <cp:revision>2</cp:revision>
  <dcterms:created xsi:type="dcterms:W3CDTF">2026-08-22T15:48:51Z</dcterms:created>
  <dcterms:modified xsi:type="dcterms:W3CDTF">2026-09-07T21:14:11Z</dcterms:modified>
</cp:coreProperties>
</file>